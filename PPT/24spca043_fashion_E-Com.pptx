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97" r:id="rId4"/>
    <p:sldId id="298" r:id="rId5"/>
    <p:sldId id="259" r:id="rId6"/>
    <p:sldId id="260" r:id="rId7"/>
    <p:sldId id="261" r:id="rId8"/>
    <p:sldId id="262" r:id="rId9"/>
    <p:sldId id="263" r:id="rId10"/>
    <p:sldId id="264" r:id="rId11"/>
    <p:sldId id="299" r:id="rId12"/>
    <p:sldId id="265" r:id="rId13"/>
    <p:sldId id="266" r:id="rId14"/>
    <p:sldId id="267" r:id="rId15"/>
    <p:sldId id="300" r:id="rId16"/>
    <p:sldId id="301" r:id="rId17"/>
    <p:sldId id="268" r:id="rId18"/>
    <p:sldId id="302" r:id="rId19"/>
    <p:sldId id="269" r:id="rId20"/>
    <p:sldId id="303" r:id="rId21"/>
    <p:sldId id="304" r:id="rId22"/>
    <p:sldId id="270" r:id="rId23"/>
    <p:sldId id="305" r:id="rId24"/>
    <p:sldId id="306" r:id="rId25"/>
    <p:sldId id="272" r:id="rId26"/>
    <p:sldId id="307" r:id="rId27"/>
    <p:sldId id="308" r:id="rId28"/>
    <p:sldId id="309" r:id="rId29"/>
    <p:sldId id="310" r:id="rId30"/>
    <p:sldId id="271" r:id="rId31"/>
    <p:sldId id="273" r:id="rId32"/>
    <p:sldId id="311" r:id="rId33"/>
    <p:sldId id="312" r:id="rId34"/>
    <p:sldId id="274" r:id="rId35"/>
    <p:sldId id="275" r:id="rId36"/>
    <p:sldId id="276" r:id="rId37"/>
    <p:sldId id="313" r:id="rId38"/>
    <p:sldId id="314" r:id="rId39"/>
    <p:sldId id="315" r:id="rId40"/>
    <p:sldId id="316" r:id="rId41"/>
    <p:sldId id="317" r:id="rId42"/>
    <p:sldId id="318" r:id="rId43"/>
    <p:sldId id="27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319" r:id="rId53"/>
    <p:sldId id="286" r:id="rId54"/>
    <p:sldId id="287" r:id="rId55"/>
    <p:sldId id="320" r:id="rId56"/>
    <p:sldId id="288" r:id="rId57"/>
    <p:sldId id="289" r:id="rId58"/>
    <p:sldId id="290" r:id="rId59"/>
    <p:sldId id="321" r:id="rId60"/>
    <p:sldId id="291" r:id="rId61"/>
    <p:sldId id="293" r:id="rId62"/>
    <p:sldId id="294" r:id="rId63"/>
    <p:sldId id="295" r:id="rId64"/>
    <p:sldId id="296" r:id="rId6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611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0BFFF">
              <a:alpha val="10000"/>
            </a:srgbClr>
          </a:solidFill>
          <a:ln w="12700">
            <a:solidFill>
              <a:srgbClr val="00B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AUCTION SYSTEM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286000" y="1920240"/>
            <a:ext cx="45720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Final Project – Viva Presentation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4023360" cy="548640"/>
          </a:xfrm>
          <a:prstGeom prst="rect">
            <a:avLst/>
          </a:prstGeom>
          <a:solidFill>
            <a:srgbClr val="0D1B2E"/>
          </a:solidFill>
          <a:ln w="10160">
            <a:solidFill>
              <a:srgbClr val="7B2FBE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2560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" y="275234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 ABDULLA 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2514600"/>
            <a:ext cx="4023360" cy="548640"/>
          </a:xfrm>
          <a:prstGeom prst="rect">
            <a:avLst/>
          </a:prstGeom>
          <a:solidFill>
            <a:srgbClr val="0D1B2E"/>
          </a:solidFill>
          <a:ln w="10160">
            <a:solidFill>
              <a:srgbClr val="7B2FBE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47488" y="2560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47488" y="275234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24SPCA043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18688"/>
            <a:ext cx="4023360" cy="548640"/>
          </a:xfrm>
          <a:prstGeom prst="rect">
            <a:avLst/>
          </a:prstGeom>
          <a:solidFill>
            <a:srgbClr val="0D1B2E"/>
          </a:solidFill>
          <a:ln w="10160">
            <a:solidFill>
              <a:srgbClr val="7B2FBE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" y="326440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8368" y="345643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VHNSN College, Virudhunagar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3218688"/>
            <a:ext cx="4023360" cy="548640"/>
          </a:xfrm>
          <a:prstGeom prst="rect">
            <a:avLst/>
          </a:prstGeom>
          <a:solidFill>
            <a:srgbClr val="0D1B2E"/>
          </a:solidFill>
          <a:ln w="10160">
            <a:solidFill>
              <a:srgbClr val="7B2FBE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47488" y="326440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47488" y="345643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P. MURUGESWARI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22776"/>
            <a:ext cx="4023360" cy="548640"/>
          </a:xfrm>
          <a:prstGeom prst="rect">
            <a:avLst/>
          </a:prstGeom>
          <a:solidFill>
            <a:srgbClr val="0D1B2E"/>
          </a:solidFill>
          <a:ln w="10160">
            <a:solidFill>
              <a:srgbClr val="7B2FBE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8368" y="396849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8368" y="416052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DCE Technology, Virudhunagar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3922776"/>
            <a:ext cx="4023360" cy="548640"/>
          </a:xfrm>
          <a:prstGeom prst="rect">
            <a:avLst/>
          </a:prstGeom>
          <a:solidFill>
            <a:srgbClr val="0D1B2E"/>
          </a:solidFill>
          <a:ln w="10160">
            <a:solidFill>
              <a:srgbClr val="7B2FBE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47488" y="396849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47488" y="416052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all sections covered in this presentation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1005840"/>
            <a:ext cx="4160520" cy="512064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1005840"/>
            <a:ext cx="59436" cy="5120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10972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10972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&amp; Organisation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11880" y="10972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1–3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1581912"/>
            <a:ext cx="4160520" cy="512064"/>
          </a:xfrm>
          <a:prstGeom prst="rect">
            <a:avLst/>
          </a:prstGeom>
          <a:solidFill>
            <a:srgbClr val="16163A"/>
          </a:solidFill>
          <a:ln w="19050">
            <a:solidFill>
              <a:srgbClr val="9B59F5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1581912"/>
            <a:ext cx="59436" cy="5120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167335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16733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Definition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11880" y="16733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4–5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157984"/>
            <a:ext cx="4160520" cy="512064"/>
          </a:xfrm>
          <a:prstGeom prst="rect">
            <a:avLst/>
          </a:prstGeom>
          <a:solidFill>
            <a:srgbClr val="16163A"/>
          </a:solidFill>
          <a:ln w="19050">
            <a:solidFill>
              <a:srgbClr val="1A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2157984"/>
            <a:ext cx="59436" cy="512064"/>
          </a:xfrm>
          <a:prstGeom prst="rect">
            <a:avLst/>
          </a:prstGeom>
          <a:solidFill>
            <a:srgbClr val="1A7FFF"/>
          </a:solidFill>
          <a:ln w="12700">
            <a:solidFill>
              <a:srgbClr val="1A7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224942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224942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&amp; Proposed System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11880" y="224942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6–7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2734056"/>
            <a:ext cx="4160520" cy="512064"/>
          </a:xfrm>
          <a:prstGeom prst="rect">
            <a:avLst/>
          </a:prstGeom>
          <a:solidFill>
            <a:srgbClr val="16163A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20040" y="2734056"/>
            <a:ext cx="59436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7200" y="282549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282549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Requirements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11880" y="282549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8–9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310128"/>
            <a:ext cx="4160520" cy="512064"/>
          </a:xfrm>
          <a:prstGeom prst="rect">
            <a:avLst/>
          </a:prstGeom>
          <a:solidFill>
            <a:srgbClr val="16163A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20040" y="3310128"/>
            <a:ext cx="59436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57200" y="34015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05840" y="34015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11880" y="340156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10–11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3886200"/>
            <a:ext cx="4160520" cy="512064"/>
          </a:xfrm>
          <a:prstGeom prst="rect">
            <a:avLst/>
          </a:prstGeom>
          <a:solidFill>
            <a:srgbClr val="16163A"/>
          </a:solidFill>
          <a:ln w="1905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20040" y="3886200"/>
            <a:ext cx="59436" cy="5120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57200" y="39776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05840" y="39776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 &amp; Modules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611880" y="39776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12–13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4462272"/>
            <a:ext cx="4160520" cy="512064"/>
          </a:xfrm>
          <a:prstGeom prst="rect">
            <a:avLst/>
          </a:prstGeom>
          <a:solidFill>
            <a:srgbClr val="16163A"/>
          </a:solidFill>
          <a:ln w="19050">
            <a:solidFill>
              <a:srgbClr val="FF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320040" y="4462272"/>
            <a:ext cx="59436" cy="512064"/>
          </a:xfrm>
          <a:prstGeom prst="rect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57200" y="455371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005840" y="45537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Deep Dive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611880" y="455371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14–23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1005840"/>
            <a:ext cx="4160520" cy="512064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800600" y="1005840"/>
            <a:ext cx="59436" cy="5120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37760" y="10972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486400" y="10972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 (ER, Data Dictionary)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092440" y="10972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24–28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00600" y="1581912"/>
            <a:ext cx="4160520" cy="512064"/>
          </a:xfrm>
          <a:prstGeom prst="rect">
            <a:avLst/>
          </a:prstGeom>
          <a:solidFill>
            <a:srgbClr val="16163A"/>
          </a:solidFill>
          <a:ln w="19050">
            <a:solidFill>
              <a:srgbClr val="9B59F5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800600" y="1581912"/>
            <a:ext cx="59436" cy="5120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937760" y="167335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486400" y="16733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Model (DFD L0–L3, Use Case)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092440" y="16733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29–35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00600" y="2157984"/>
            <a:ext cx="4160520" cy="512064"/>
          </a:xfrm>
          <a:prstGeom prst="rect">
            <a:avLst/>
          </a:prstGeom>
          <a:solidFill>
            <a:srgbClr val="16163A"/>
          </a:solidFill>
          <a:ln w="19050">
            <a:solidFill>
              <a:srgbClr val="1A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800600" y="2157984"/>
            <a:ext cx="59436" cy="512064"/>
          </a:xfrm>
          <a:prstGeom prst="rect">
            <a:avLst/>
          </a:prstGeom>
          <a:solidFill>
            <a:srgbClr val="1A7FFF"/>
          </a:solidFill>
          <a:ln w="12700">
            <a:solidFill>
              <a:srgbClr val="1A7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937760" y="224942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5486400" y="224942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Algorithms &amp; Logic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092440" y="224942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36–38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800600" y="2734056"/>
            <a:ext cx="4160520" cy="512064"/>
          </a:xfrm>
          <a:prstGeom prst="rect">
            <a:avLst/>
          </a:prstGeom>
          <a:solidFill>
            <a:srgbClr val="16163A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4800600" y="2734056"/>
            <a:ext cx="59436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937760" y="282549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5486400" y="282549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(Frontend + Backend)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8092440" y="282549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39–48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800600" y="3310128"/>
            <a:ext cx="4160520" cy="512064"/>
          </a:xfrm>
          <a:prstGeom prst="rect">
            <a:avLst/>
          </a:prstGeom>
          <a:solidFill>
            <a:srgbClr val="16163A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4800600" y="3310128"/>
            <a:ext cx="59436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937760" y="34015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5486400" y="34015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8092440" y="340156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49–51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800600" y="3886200"/>
            <a:ext cx="4160520" cy="512064"/>
          </a:xfrm>
          <a:prstGeom prst="rect">
            <a:avLst/>
          </a:prstGeom>
          <a:solidFill>
            <a:srgbClr val="16163A"/>
          </a:solidFill>
          <a:ln w="1905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4800600" y="3886200"/>
            <a:ext cx="59436" cy="5120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4937760" y="39776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5486400" y="39776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Performance, Limitations, Future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8092440" y="39776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52–55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800600" y="4462272"/>
            <a:ext cx="4160520" cy="512064"/>
          </a:xfrm>
          <a:prstGeom prst="rect">
            <a:avLst/>
          </a:prstGeom>
          <a:solidFill>
            <a:srgbClr val="16163A"/>
          </a:solidFill>
          <a:ln w="19050">
            <a:solidFill>
              <a:srgbClr val="FF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800600" y="4462272"/>
            <a:ext cx="59436" cy="512064"/>
          </a:xfrm>
          <a:prstGeom prst="rect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937760" y="455371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5486400" y="45537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References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8092440" y="455371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56–60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ORGANISATION PROFILE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Training Partner — DCE Technology, Virudhunagar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1005840"/>
            <a:ext cx="4160520" cy="3749040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1005840"/>
            <a:ext cx="59436" cy="37490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105156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DCE TECHNOLOGY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144475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83080" y="14447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S. KARTHIKEYAN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19385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83080" y="19385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S. STHIYAMOORTHI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243230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83080" y="24323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Virudhunagar, Tamil Nadu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29260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783080" y="29260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341985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83080" y="341985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Real-Time Systems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39136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783080" y="39136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Training Partner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1005840"/>
            <a:ext cx="4023360" cy="1737360"/>
          </a:xfrm>
          <a:prstGeom prst="rect">
            <a:avLst/>
          </a:prstGeom>
          <a:solidFill>
            <a:srgbClr val="16163A"/>
          </a:solidFill>
          <a:ln w="19050">
            <a:solidFill>
              <a:srgbClr val="9B59F5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0" y="1051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13898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 software &amp; web application development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17007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Mobile applications &amp; cloud-based systems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Agile development methodology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23225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Scalable, user-friendly architecture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6334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systems &amp; digital commerce solutions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2880360"/>
            <a:ext cx="4023360" cy="1874520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54880" y="2926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INSTITUTION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32735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327355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VHNSN College, Virudhunagar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365760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Affiliation: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26480" y="365760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Madurai Kamaraj University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404164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26480" y="404164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 'A+' Grade (5th Cycle)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442569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26480" y="442569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P. MURUGESWARI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— Fashion E-Commerce with Auction System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1005840"/>
            <a:ext cx="4160520" cy="1188720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1005840"/>
            <a:ext cx="59436" cy="1188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4632" y="109728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Platform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138988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app combining fixed-price shopping with real-time live auction for fashion products.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1005840"/>
            <a:ext cx="4160520" cy="1188720"/>
          </a:xfrm>
          <a:prstGeom prst="rect">
            <a:avLst/>
          </a:prstGeom>
          <a:solidFill>
            <a:srgbClr val="16163A"/>
          </a:solidFill>
          <a:ln w="19050">
            <a:solidFill>
              <a:srgbClr val="9B59F5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00600" y="1005840"/>
            <a:ext cx="59436" cy="118872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65192" y="109728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65192" y="138988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browsing, cart, wallet operations, digital payments, and competitive live bidding.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304288"/>
            <a:ext cx="4160520" cy="1188720"/>
          </a:xfrm>
          <a:prstGeom prst="rect">
            <a:avLst/>
          </a:prstGeom>
          <a:solidFill>
            <a:srgbClr val="16163A"/>
          </a:solidFill>
          <a:ln w="19050">
            <a:solidFill>
              <a:srgbClr val="1A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0040" y="2304288"/>
            <a:ext cx="59436" cy="1188720"/>
          </a:xfrm>
          <a:prstGeom prst="rect">
            <a:avLst/>
          </a:prstGeom>
          <a:solidFill>
            <a:srgbClr val="1A7FFF"/>
          </a:solidFill>
          <a:ln w="12700">
            <a:solidFill>
              <a:srgbClr val="1A7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4632" y="239572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Dual-Mode Selling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" y="2688336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fixed-price items PLUS live auction rooms for premium and limited-edition fashion.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2304288"/>
            <a:ext cx="4160520" cy="1188720"/>
          </a:xfrm>
          <a:prstGeom prst="rect">
            <a:avLst/>
          </a:prstGeom>
          <a:solidFill>
            <a:srgbClr val="16163A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00600" y="2304288"/>
            <a:ext cx="59436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65192" y="239572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MERN Stack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65192" y="2688336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MongoDB, Express.js, React.js, Node.js with Socket.IO for real-time bid synchronization.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02736"/>
            <a:ext cx="4160520" cy="1188720"/>
          </a:xfrm>
          <a:prstGeom prst="rect">
            <a:avLst/>
          </a:prstGeom>
          <a:solidFill>
            <a:srgbClr val="16163A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20040" y="3602736"/>
            <a:ext cx="59436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4632" y="369417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System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" y="39867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interfaces for Administrators, Vendors, and Customers across 82 frontend routes.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3602736"/>
            <a:ext cx="4160520" cy="1188720"/>
          </a:xfrm>
          <a:prstGeom prst="rect">
            <a:avLst/>
          </a:prstGeom>
          <a:solidFill>
            <a:srgbClr val="16163A"/>
          </a:solidFill>
          <a:ln w="1905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00600" y="3602736"/>
            <a:ext cx="59436" cy="1188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65192" y="369417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65192" y="39867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user engagement, enables dynamic price discovery, and supports flexible selling.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60520" cy="11887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914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Pricing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2344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prices fail to capture true market value of premium/limited fashion items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60520" cy="11887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73752" y="914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Bidding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2344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real-time bidding or auction room management in existing platforms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4160520" cy="11887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30352" y="2286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26060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browse and buy with no live participation model, reducing platform stickiness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194560"/>
            <a:ext cx="4160520" cy="11887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09160" y="219456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73752" y="2286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26060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auction portals cause split identity, payment flow, and inventory control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8412480" cy="11887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3657600"/>
            <a:ext cx="8183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Discovery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39776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transparent mechanism for competitive price discovery on high-demand items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02336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749040" cy="3429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listed with fixed prices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browse → cart → checkout flow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competitive engagement or live events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adjust price based on real-time demand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customer excitement and platform stickiness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auction room or bidding system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777240"/>
            <a:ext cx="411480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0916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379476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28032" y="134416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pricing ignores demand-driven value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764792"/>
            <a:ext cx="379476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09160" y="1764792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28032" y="18288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auction room management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249424"/>
            <a:ext cx="379476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09160" y="2249424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28032" y="231343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control over live events is absent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734056"/>
            <a:ext cx="379476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09160" y="2734056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28032" y="279806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systems needed for auctions &amp; shopping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3218688"/>
            <a:ext cx="379476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09160" y="3218688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28032" y="32826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bid validation or synchronized bid updates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703320"/>
            <a:ext cx="379476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09160" y="3703320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28032" y="37673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declaration must be handled manually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97480" cy="178308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69748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24871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fixed-price shopping AND live auction bidding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804672"/>
            <a:ext cx="2697480" cy="178308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69748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9144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28016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Bidding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627632"/>
            <a:ext cx="24871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Socket.IO-powered room-based synchronization for live bid updates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804672"/>
            <a:ext cx="2697480" cy="178308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80760" y="804672"/>
            <a:ext cx="269748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72200" y="9144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72200" y="128016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1627632"/>
            <a:ext cx="24871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Wallet-driven participation with balance validation before bidding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770632"/>
            <a:ext cx="2697480" cy="178308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2770632"/>
            <a:ext cx="269748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288036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1480" y="324612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593592"/>
            <a:ext cx="24871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Vendor, and Customer each get a dedicated interface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770632"/>
            <a:ext cx="2697480" cy="178308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0" y="2770632"/>
            <a:ext cx="269748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91840" y="288036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91840" y="324612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Modules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593592"/>
            <a:ext cx="24871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cart, payment, order, and auction all in one system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2770632"/>
            <a:ext cx="2697480" cy="178308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080760" y="2770632"/>
            <a:ext cx="269748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172200" y="288036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72200" y="324612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Settlement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3593592"/>
            <a:ext cx="24871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winner declaration with bid tracking and notification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– HARDWARE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Environment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307238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i5 / AMD Ryzen 5 or above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 minimum — 16 GB recommended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GB SSD or above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1366 x 768 resolution or above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broadband internet connection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– SOFTWARE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18748"/>
              </p:ext>
            </p:extLst>
          </p:nvPr>
        </p:nvGraphicFramePr>
        <p:xfrm>
          <a:off x="365760" y="804672"/>
          <a:ext cx="8412480" cy="380390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/ 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 / 11 or equivalent development 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Editor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Studio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(NoSQL document database)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– server-side JavaScript 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Testing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Chrome / Microsoft Edge/</a:t>
                      </a:r>
                      <a:r>
                        <a:rPr lang="en-US" sz="115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FireFox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– N-TIER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solidFill>
            <a:srgbClr val="0D1B2E"/>
          </a:solidFill>
          <a:ln w="1905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91440" cy="11887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8686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Admin, Vendor, Auction Pages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Routes | Role-Based UI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457200" cy="2011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8229600" cy="1188720"/>
          </a:xfrm>
          <a:prstGeom prst="rect">
            <a:avLst/>
          </a:prstGeom>
          <a:solidFill>
            <a:srgbClr val="0D1B2E"/>
          </a:solidFill>
          <a:ln w="19050">
            <a:solidFill>
              <a:srgbClr val="A855F7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2167128"/>
            <a:ext cx="91440" cy="1188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22585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6243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| JWT Auth | Socket.IO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Modules | Middleware | Services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3355848"/>
            <a:ext cx="457200" cy="2011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557016"/>
            <a:ext cx="8229600" cy="1188720"/>
          </a:xfrm>
          <a:prstGeom prst="rect">
            <a:avLst/>
          </a:prstGeom>
          <a:solidFill>
            <a:srgbClr val="0D1B2E"/>
          </a:solidFill>
          <a:ln w="19050">
            <a:solidFill>
              <a:srgbClr val="10B981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3557016"/>
            <a:ext cx="9144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" y="36484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014216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Collections | Persistent Storage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Orders, Auctions, Bids, Wallets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1554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Axios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9443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Events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DIAGRAM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representation of the N-Tier implementation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964692"/>
            <a:ext cx="8586216" cy="3831336"/>
          </a:xfrm>
          <a:prstGeom prst="rect">
            <a:avLst/>
          </a:prstGeom>
          <a:solidFill>
            <a:srgbClr val="1A1A42"/>
          </a:solidFill>
          <a:ln w="25400">
            <a:solidFill>
              <a:srgbClr val="00E5FF"/>
            </a:solidFill>
            <a:prstDash val="solid"/>
          </a:ln>
          <a:effectLst>
            <a:outerShdw blurRad="254000" dist="50800" dir="16200000" algn="bl" rotWithShape="0">
              <a:srgbClr val="00E5FF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05840"/>
            <a:ext cx="8503920" cy="3749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4809744"/>
            <a:ext cx="8586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5.2.1 — Three-tier architecture: React 19 → Express/Node.js → MongoDB, with Socket.IO real-time layer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351129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B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+ Vite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 frontend for customer, admin, vendor &amp; auction pages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Axios + Socket.IO 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calls &amp; real-time bid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Express.js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execution, business logic, middleware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Socket.IO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Auction room synchronization — join, bid, fold, chat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+ Mongoose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storage for all entities and references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Role Middleware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access control for Admin, Vendor, 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0B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Uploads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upload handling for product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011680" cy="123444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01168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243584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login, user mgmt, approvals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804672"/>
            <a:ext cx="2011680" cy="123444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23160" y="804672"/>
            <a:ext cx="20116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14600" y="914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1243584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profile, bank account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804672"/>
            <a:ext cx="2011680" cy="123444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17720" y="804672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09160" y="914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1243584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profile, product management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804672"/>
            <a:ext cx="2011680" cy="123444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812280" y="804672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903720" y="914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1243584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analytics, stock, search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221992"/>
            <a:ext cx="2011680" cy="123444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8600" y="2221992"/>
            <a:ext cx="20116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2331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2660904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selection, quantity maintenance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2221992"/>
            <a:ext cx="2011680" cy="123444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23160" y="2221992"/>
            <a:ext cx="201168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14600" y="2331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14600" y="2660904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Placement, tracking, cancellation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2221992"/>
            <a:ext cx="2011680" cy="123444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17720" y="2221992"/>
            <a:ext cx="2011680" cy="54864"/>
          </a:xfrm>
          <a:prstGeom prst="rect">
            <a:avLst/>
          </a:prstGeom>
          <a:solidFill>
            <a:srgbClr val="A0B4CC"/>
          </a:solidFill>
          <a:ln w="12700">
            <a:solidFill>
              <a:srgbClr val="A0B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09160" y="2331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2660904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&amp; order linking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12280" y="2221992"/>
            <a:ext cx="2011680" cy="123444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812280" y="2221992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903720" y="2331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03720" y="2660904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Cash/chips balance &amp; history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3639312"/>
            <a:ext cx="2011680" cy="123444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228600" y="3639312"/>
            <a:ext cx="201168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749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0040" y="4078224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creation, entry, state, finalization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423160" y="3639312"/>
            <a:ext cx="2011680" cy="123444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423160" y="3639312"/>
            <a:ext cx="20116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514600" y="3749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514600" y="4078224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history &amp; leaderboard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17720" y="3639312"/>
            <a:ext cx="2011680" cy="123444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617720" y="3639312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709160" y="3749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09160" y="4078224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&amp; winner view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12280" y="3639312"/>
            <a:ext cx="2011680" cy="123444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812280" y="3639312"/>
            <a:ext cx="20116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903720" y="3749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03720" y="4078224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alerts &amp; unread count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7315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4048" y="89611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325880"/>
            <a:ext cx="2514600" cy="3383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Register/login as Admin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customers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Block/unblock customers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vendor accounts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vendor analytics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777240"/>
            <a:ext cx="274320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743200" cy="7315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64408" y="89611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Catalog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64408" y="1325880"/>
            <a:ext cx="2514600" cy="3383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products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management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monitoring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analytics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selling/rated items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777240"/>
            <a:ext cx="274320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35040" y="777240"/>
            <a:ext cx="2743200" cy="7315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44768" y="89611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Control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44768" y="1325880"/>
            <a:ext cx="2514600" cy="3383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auction rooms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products to rooms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live bidding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sold products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winners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auction results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MODULE — DASHBOARD SCREENSHOT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panel implementation view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1010412"/>
            <a:ext cx="5202936" cy="3465576"/>
          </a:xfrm>
          <a:prstGeom prst="rect">
            <a:avLst/>
          </a:prstGeom>
          <a:solidFill>
            <a:srgbClr val="1A1A42"/>
          </a:solidFill>
          <a:ln w="25400">
            <a:solidFill>
              <a:srgbClr val="00E5FF"/>
            </a:solidFill>
            <a:prstDash val="solid"/>
          </a:ln>
          <a:effectLst>
            <a:outerShdw blurRad="254000" dist="50800" dir="16200000" algn="bl" rotWithShape="0">
              <a:srgbClr val="00E5FF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51560"/>
            <a:ext cx="5120640" cy="33832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685800"/>
            <a:ext cx="5202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8892" y="4489704"/>
            <a:ext cx="5202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8 — Admin dashboard: products, customers, vendors, auctions, reports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628132" y="1010412"/>
            <a:ext cx="3236976" cy="3465576"/>
          </a:xfrm>
          <a:prstGeom prst="rect">
            <a:avLst/>
          </a:prstGeom>
          <a:solidFill>
            <a:srgbClr val="1A1A42"/>
          </a:solidFill>
          <a:ln w="25400">
            <a:solidFill>
              <a:srgbClr val="9B59F5"/>
            </a:solidFill>
            <a:prstDash val="solid"/>
          </a:ln>
          <a:effectLst>
            <a:outerShdw blurRad="254000" dist="50800" dir="16200000" algn="bl" rotWithShape="0">
              <a:srgbClr val="9B59F5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0" y="1051560"/>
            <a:ext cx="3154680" cy="33832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28132" y="685800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MANAGEMENT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628132" y="4489704"/>
            <a:ext cx="3236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11 — Admin order management screen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MODULE — PRODUCT &amp; CUSTOMER MANAGEMENT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control and customer account administration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1010412"/>
            <a:ext cx="4242816" cy="3374136"/>
          </a:xfrm>
          <a:prstGeom prst="rect">
            <a:avLst/>
          </a:prstGeom>
          <a:solidFill>
            <a:srgbClr val="1A1A42"/>
          </a:solidFill>
          <a:ln w="25400">
            <a:solidFill>
              <a:srgbClr val="00E5FF"/>
            </a:solidFill>
            <a:prstDash val="solid"/>
          </a:ln>
          <a:effectLst>
            <a:outerShdw blurRad="254000" dist="50800" dir="16200000" algn="bl" rotWithShape="0">
              <a:srgbClr val="00E5FF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51560"/>
            <a:ext cx="4160520" cy="32918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685800"/>
            <a:ext cx="4242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MANAGEMENT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8892" y="4398264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9 — Product management with vendor product listings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13732" y="1010412"/>
            <a:ext cx="4151376" cy="3374136"/>
          </a:xfrm>
          <a:prstGeom prst="rect">
            <a:avLst/>
          </a:prstGeom>
          <a:solidFill>
            <a:srgbClr val="1A1A42"/>
          </a:solidFill>
          <a:ln w="25400">
            <a:solidFill>
              <a:srgbClr val="9B59F5"/>
            </a:solidFill>
            <a:prstDash val="solid"/>
          </a:ln>
          <a:effectLst>
            <a:outerShdw blurRad="254000" dist="50800" dir="16200000" algn="bl" rotWithShape="0">
              <a:srgbClr val="9B59F5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051560"/>
            <a:ext cx="4069080" cy="32918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713732" y="685800"/>
            <a:ext cx="4151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MANAGEMENT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713732" y="4398264"/>
            <a:ext cx="4151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10 — Customer management panel with user status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MODULE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02336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Responsibilities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749040" cy="3383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registration &amp; account creation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 and updates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and remove products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product stock levels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order details for own products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sales analytics and performance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777240"/>
            <a:ext cx="411480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09160" y="868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Workflow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379476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0" y="1344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13898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Vendor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801368"/>
            <a:ext cx="379476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54880" y="187452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0" y="1847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189280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Admin Approval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304288"/>
            <a:ext cx="379476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0" y="23500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0" y="239572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Vendor Panel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2807208"/>
            <a:ext cx="379476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288036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0" y="28529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289864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Fashion Products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3310128"/>
            <a:ext cx="379476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338328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0" y="33558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340156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Inventory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09160" y="3813048"/>
            <a:ext cx="379476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54880" y="388620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3858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39044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Orders &amp; Sales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MODULE — REGISTRATION &amp; PANEL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onboarding and product management interface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1010412"/>
            <a:ext cx="3922776" cy="3557016"/>
          </a:xfrm>
          <a:prstGeom prst="rect">
            <a:avLst/>
          </a:prstGeom>
          <a:solidFill>
            <a:srgbClr val="1A1A42"/>
          </a:solidFill>
          <a:ln w="25400">
            <a:solidFill>
              <a:srgbClr val="9B59F5"/>
            </a:solidFill>
            <a:prstDash val="solid"/>
          </a:ln>
          <a:effectLst>
            <a:outerShdw blurRad="254000" dist="50800" dir="16200000" algn="bl" rotWithShape="0">
              <a:srgbClr val="9B59F5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51560"/>
            <a:ext cx="3840480" cy="34747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685800"/>
            <a:ext cx="3922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REGISTRATION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8892" y="4581144"/>
            <a:ext cx="3922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4 — Vendor registration form with shop details and email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572000" y="1051560"/>
            <a:ext cx="4251960" cy="3474720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663440" y="111556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PANEL FEATURES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681728" y="1499616"/>
            <a:ext cx="4005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 products with images via Multer upload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681728" y="1975104"/>
            <a:ext cx="4005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Set product price, stock, and category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681728" y="2450592"/>
            <a:ext cx="4005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and manage incoming orders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681728" y="2926080"/>
            <a:ext cx="4005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Track sales analytics and revenue charts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681728" y="3401568"/>
            <a:ext cx="4005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Manage shop name, email, and status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681728" y="3877056"/>
            <a:ext cx="4005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Participate in admin-created auction rooms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MODULE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069080" cy="841248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64008" cy="8412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" y="87782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18872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manage profile &amp; bank account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804672"/>
            <a:ext cx="4069080" cy="841248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17720" y="804672"/>
            <a:ext cx="64008" cy="8412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82312" y="87782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82312" y="118872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products, filter by category, add to cart, checkout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810512"/>
            <a:ext cx="4069080" cy="841248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1810512"/>
            <a:ext cx="64008" cy="8412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4632" y="188366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" y="219456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orders using supported payment methods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810512"/>
            <a:ext cx="4069080" cy="841248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17720" y="1810512"/>
            <a:ext cx="64008" cy="8412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82312" y="188366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82312" y="219456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cash to wallet, view balance and transaction history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816352"/>
            <a:ext cx="4069080" cy="841248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2816352"/>
            <a:ext cx="64008" cy="8412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4632" y="288950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" y="32004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orders, view history, cancel if needed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2816352"/>
            <a:ext cx="4069080" cy="841248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17720" y="2816352"/>
            <a:ext cx="64008" cy="8412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82312" y="288950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82312" y="32004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live rooms, place bids, fold from rounds, view winners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822192"/>
            <a:ext cx="4069080" cy="841248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20040" y="3822192"/>
            <a:ext cx="64008" cy="8412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4632" y="389534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" y="42062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and review purchased products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3822192"/>
            <a:ext cx="4069080" cy="841248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617720" y="3822192"/>
            <a:ext cx="64008" cy="8412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82312" y="389534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82312" y="42062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alerts for bids, orders, and auction events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MODULE — AUTHENTICATION SCREENS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registration implementation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1010412"/>
            <a:ext cx="4242816" cy="3282696"/>
          </a:xfrm>
          <a:prstGeom prst="rect">
            <a:avLst/>
          </a:prstGeom>
          <a:solidFill>
            <a:srgbClr val="1A1A42"/>
          </a:solidFill>
          <a:ln w="25400">
            <a:solidFill>
              <a:srgbClr val="00E5FF"/>
            </a:solidFill>
            <a:prstDash val="solid"/>
          </a:ln>
          <a:effectLst>
            <a:outerShdw blurRad="254000" dist="50800" dir="16200000" algn="bl" rotWithShape="0">
              <a:srgbClr val="00E5FF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51560"/>
            <a:ext cx="4160520" cy="32004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685800"/>
            <a:ext cx="4242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LOGIN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8892" y="4306824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2 — Login screen with JWT-authenticated access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13732" y="1010412"/>
            <a:ext cx="4151376" cy="3282696"/>
          </a:xfrm>
          <a:prstGeom prst="rect">
            <a:avLst/>
          </a:prstGeom>
          <a:solidFill>
            <a:srgbClr val="1A1A42"/>
          </a:solidFill>
          <a:ln w="25400">
            <a:solidFill>
              <a:srgbClr val="9B59F5"/>
            </a:solidFill>
            <a:prstDash val="solid"/>
          </a:ln>
          <a:effectLst>
            <a:outerShdw blurRad="254000" dist="50800" dir="16200000" algn="bl" rotWithShape="0">
              <a:srgbClr val="9B59F5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051560"/>
            <a:ext cx="4069080" cy="32004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713732" y="685800"/>
            <a:ext cx="4151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REGISTRATION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713732" y="4306824"/>
            <a:ext cx="4151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3 — Registration form with input validation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320040" y="44622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JWT-based tokens with role-specific secrets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291840" y="44622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ProtectedRoute prevents unauthorized page access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263640" y="44622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Role-based redirect after successful login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MODULE — DASHBOARD &amp; NOTIFICATIONS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control panel and real-time notification system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1010412"/>
            <a:ext cx="4242816" cy="3282696"/>
          </a:xfrm>
          <a:prstGeom prst="rect">
            <a:avLst/>
          </a:prstGeom>
          <a:solidFill>
            <a:srgbClr val="1A1A42"/>
          </a:solidFill>
          <a:ln w="25400">
            <a:solidFill>
              <a:srgbClr val="00E5FF"/>
            </a:solidFill>
            <a:prstDash val="solid"/>
          </a:ln>
          <a:effectLst>
            <a:outerShdw blurRad="254000" dist="50800" dir="16200000" algn="bl" rotWithShape="0">
              <a:srgbClr val="00E5FF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51560"/>
            <a:ext cx="4160520" cy="32004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685800"/>
            <a:ext cx="4242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DASHBOARD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8892" y="4306824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5 — Dashboard: profile, orders, wallet, auction access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13732" y="1010412"/>
            <a:ext cx="4151376" cy="3282696"/>
          </a:xfrm>
          <a:prstGeom prst="rect">
            <a:avLst/>
          </a:prstGeom>
          <a:solidFill>
            <a:srgbClr val="1A1A42"/>
          </a:solidFill>
          <a:ln w="25400">
            <a:solidFill>
              <a:srgbClr val="9B59F5"/>
            </a:solidFill>
            <a:prstDash val="solid"/>
          </a:ln>
          <a:effectLst>
            <a:outerShdw blurRad="254000" dist="50800" dir="16200000" algn="bl" rotWithShape="0">
              <a:srgbClr val="9B59F5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051560"/>
            <a:ext cx="4069080" cy="32004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713732" y="685800"/>
            <a:ext cx="4151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 VIEW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713732" y="4306824"/>
            <a:ext cx="4151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6 — Real-time notification panel for bids, orders, auctions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AUCTION MODULE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605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Module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886200" cy="34015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with vendor reference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Category-based product classification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by name/category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monitoring with low-stock alerts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Top-selling and top-rated product lists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analytics and performance metrics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support via Multer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605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00600" y="8686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Module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298448"/>
            <a:ext cx="3794760" cy="34015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room with room code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assigned to auction queue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join via room code + entry fee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balance validated before joining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bidding with real-time Socket.IO sync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increment logic enforced server-side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finalizes: SOLD or UNSOLD per product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declared and stored in Winner collection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MODULE — HOME PAGE &amp; PRODUCT CATALOG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product browsing experience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1010412"/>
            <a:ext cx="5202936" cy="3465576"/>
          </a:xfrm>
          <a:prstGeom prst="rect">
            <a:avLst/>
          </a:prstGeom>
          <a:solidFill>
            <a:srgbClr val="1A1A42"/>
          </a:solidFill>
          <a:ln w="25400">
            <a:solidFill>
              <a:srgbClr val="00E5FF"/>
            </a:solidFill>
            <a:prstDash val="solid"/>
          </a:ln>
          <a:effectLst>
            <a:outerShdw blurRad="254000" dist="50800" dir="16200000" algn="bl" rotWithShape="0">
              <a:srgbClr val="00E5FF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51560"/>
            <a:ext cx="5120640" cy="33832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685800"/>
            <a:ext cx="5202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PAGE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8892" y="4489704"/>
            <a:ext cx="5202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1 / Fig 2.3.1 — Featured products, navigation, and main browsing view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628132" y="1010412"/>
            <a:ext cx="3236976" cy="3465576"/>
          </a:xfrm>
          <a:prstGeom prst="rect">
            <a:avLst/>
          </a:prstGeom>
          <a:solidFill>
            <a:srgbClr val="1A1A42"/>
          </a:solidFill>
          <a:ln w="25400">
            <a:solidFill>
              <a:srgbClr val="9B59F5"/>
            </a:solidFill>
            <a:prstDash val="solid"/>
          </a:ln>
          <a:effectLst>
            <a:outerShdw blurRad="254000" dist="50800" dir="16200000" algn="bl" rotWithShape="0">
              <a:srgbClr val="9B59F5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0" y="1051560"/>
            <a:ext cx="3154680" cy="33832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28132" y="685800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GUEST BROWSING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628132" y="4489704"/>
            <a:ext cx="3236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2.3.2 — Guest product browsing with cards before login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WALLET MODULE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 system for purchases and auction bidding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982980"/>
            <a:ext cx="5111496" cy="3465576"/>
          </a:xfrm>
          <a:prstGeom prst="rect">
            <a:avLst/>
          </a:prstGeom>
          <a:solidFill>
            <a:srgbClr val="1A1A42"/>
          </a:solidFill>
          <a:ln w="25400">
            <a:solidFill>
              <a:srgbClr val="00E5FF"/>
            </a:solidFill>
            <a:prstDash val="solid"/>
          </a:ln>
          <a:effectLst>
            <a:outerShdw blurRad="254000" dist="50800" dir="16200000" algn="bl" rotWithShape="0">
              <a:srgbClr val="00E5FF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5029200" cy="33832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4462272"/>
            <a:ext cx="5111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6.2.3 — Wallet dashboard: cash balance, chip actions, auction wallet flow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77840" y="1024128"/>
            <a:ext cx="324612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577840" y="1024128"/>
            <a:ext cx="59436" cy="5669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742432" y="106984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Display:  Real-time wallet balance view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577840" y="1664208"/>
            <a:ext cx="324612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9B59F5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5577840" y="1664208"/>
            <a:ext cx="59436" cy="566928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742432" y="170992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Money:  Top-up via payment gateway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577840" y="2304288"/>
            <a:ext cx="324612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1A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5577840" y="2304288"/>
            <a:ext cx="59436" cy="566928"/>
          </a:xfrm>
          <a:prstGeom prst="rect">
            <a:avLst/>
          </a:prstGeom>
          <a:solidFill>
            <a:srgbClr val="1A7FFF"/>
          </a:solidFill>
          <a:ln w="12700">
            <a:solidFill>
              <a:srgbClr val="1A7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742432" y="235000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Log:  Full history of credits/debits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577840" y="2944368"/>
            <a:ext cx="324612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5577840" y="2944368"/>
            <a:ext cx="59436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5742432" y="299008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on Bid:  Wallet locked during auction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577840" y="3584448"/>
            <a:ext cx="324612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5577840" y="3584448"/>
            <a:ext cx="59436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5742432" y="363016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Deduction:  Auto-deduct on auction win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577840" y="4224528"/>
            <a:ext cx="324612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5577840" y="4224528"/>
            <a:ext cx="59436" cy="56692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5742432" y="427024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Account:  Link account for withdrawals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605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Side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886200" cy="34015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auction room with entry fee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fashion products to queue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Start/open the live auction session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real-time bidding activity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product: SOLD or move NEXT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room when all products done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automatically declared &amp; stored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605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00600" y="8686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Side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298448"/>
            <a:ext cx="3794760" cy="34015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active auction rooms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entry fee from wallet chips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live room via room code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current product &amp; timer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bid ≥ next required amount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fold to exit current product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removes on low balance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winner list after finalization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27209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AUCTION MODULE — OVERVIEW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auction engine combining admin control and customer participation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1005840"/>
            <a:ext cx="4160520" cy="3749040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103327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SIDE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142646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Create auction room with entry fee and room code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18928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Assign fashion products to auction product queue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23591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Start and open the live auction session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28254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Monitor real-time bidding from all participants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" y="3291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Finalize each product: SOLD or move NEXT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" y="375818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Close room after all products are processed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" y="42245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Winners automatically declared and stored in DB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023360" cy="3749040"/>
          </a:xfrm>
          <a:prstGeom prst="rect">
            <a:avLst/>
          </a:prstGeom>
          <a:solidFill>
            <a:srgbClr val="16163A"/>
          </a:solidFill>
          <a:ln w="19050">
            <a:solidFill>
              <a:srgbClr val="9B59F5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10332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SIDE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142646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Discover active auction rooms by room code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1892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Pay entry fee from wallet chips to join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23591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current product, timer, and current price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282549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Place bid ≥ next required bid amount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3291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Fold to exit current product round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37581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System removes on insufficient wallet balance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4224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winner list after finalization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AUCTION MODULE — LIVE BIDDING INTERFACE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customer auction participation screen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982980"/>
            <a:ext cx="5751576" cy="3648456"/>
          </a:xfrm>
          <a:prstGeom prst="rect">
            <a:avLst/>
          </a:prstGeom>
          <a:solidFill>
            <a:srgbClr val="1A1A42"/>
          </a:solidFill>
          <a:ln w="25400">
            <a:solidFill>
              <a:srgbClr val="00E5FF"/>
            </a:solidFill>
            <a:prstDash val="solid"/>
          </a:ln>
          <a:effectLst>
            <a:outerShdw blurRad="254000" dist="50800" dir="16200000" algn="bl" rotWithShape="0">
              <a:srgbClr val="00E5FF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5669280" cy="35661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4645152"/>
            <a:ext cx="5751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2.3.3 / Screenshot 15 — Live auction room: timer, current product, bid panel, bid history, fold button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217920" y="1051560"/>
            <a:ext cx="260604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35508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Countdown Timer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17920" y="1709928"/>
            <a:ext cx="260604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9B59F5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355080" y="17556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Bid Display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17920" y="2368296"/>
            <a:ext cx="260604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1A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355080" y="241401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Bid Input + Validation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217920" y="3026664"/>
            <a:ext cx="260604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355080" y="307238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Bid History Panel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217920" y="3685032"/>
            <a:ext cx="260604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355080" y="373075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 Button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217920" y="4343400"/>
            <a:ext cx="260604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355080" y="438912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pricePulse Animation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AUCTION MODULE — MANAGEMENT &amp; ROOM CONFIGURATION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auction dashboard and room setup screens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1010412"/>
            <a:ext cx="4242816" cy="3282696"/>
          </a:xfrm>
          <a:prstGeom prst="rect">
            <a:avLst/>
          </a:prstGeom>
          <a:solidFill>
            <a:srgbClr val="1A1A42"/>
          </a:solidFill>
          <a:ln w="25400">
            <a:solidFill>
              <a:srgbClr val="00E5FF"/>
            </a:solidFill>
            <a:prstDash val="solid"/>
          </a:ln>
          <a:effectLst>
            <a:outerShdw blurRad="254000" dist="50800" dir="16200000" algn="bl" rotWithShape="0">
              <a:srgbClr val="00E5FF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51560"/>
            <a:ext cx="4160520" cy="32004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685800"/>
            <a:ext cx="4242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AUCTION MANAGEMENT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8892" y="4306824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12 — Admin auction management dashboard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13732" y="1010412"/>
            <a:ext cx="4151376" cy="3282696"/>
          </a:xfrm>
          <a:prstGeom prst="rect">
            <a:avLst/>
          </a:prstGeom>
          <a:solidFill>
            <a:srgbClr val="1A1A42"/>
          </a:solidFill>
          <a:ln w="25400">
            <a:solidFill>
              <a:srgbClr val="9B59F5"/>
            </a:solidFill>
            <a:prstDash val="solid"/>
          </a:ln>
          <a:effectLst>
            <a:outerShdw blurRad="254000" dist="50800" dir="16200000" algn="bl" rotWithShape="0">
              <a:srgbClr val="9B59F5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051560"/>
            <a:ext cx="4069080" cy="32004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713732" y="685800"/>
            <a:ext cx="4151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ROOM CONFIGURATION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713732" y="4306824"/>
            <a:ext cx="4151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13 — Room configuration: product queue, entry fee, room code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AUCTION MODULE — HOSTING ROOM &amp; WINNER DECLARATION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room management and winner announcement screens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1010412"/>
            <a:ext cx="4242816" cy="3374136"/>
          </a:xfrm>
          <a:prstGeom prst="rect">
            <a:avLst/>
          </a:prstGeom>
          <a:solidFill>
            <a:srgbClr val="1A1A42"/>
          </a:solidFill>
          <a:ln w="25400">
            <a:solidFill>
              <a:srgbClr val="00E5FF"/>
            </a:solidFill>
            <a:prstDash val="solid"/>
          </a:ln>
          <a:effectLst>
            <a:outerShdw blurRad="254000" dist="50800" dir="16200000" algn="bl" rotWithShape="0">
              <a:srgbClr val="00E5FF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51560"/>
            <a:ext cx="4160520" cy="32918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685800"/>
            <a:ext cx="4242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HOSTING ROOM DETAILS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8892" y="4398264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14 — Live room management with product queue and controls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13732" y="1010412"/>
            <a:ext cx="4151376" cy="3374136"/>
          </a:xfrm>
          <a:prstGeom prst="rect">
            <a:avLst/>
          </a:prstGeom>
          <a:solidFill>
            <a:srgbClr val="1A1A42"/>
          </a:solidFill>
          <a:ln w="25400">
            <a:solidFill>
              <a:srgbClr val="10B981"/>
            </a:solidFill>
            <a:prstDash val="solid"/>
          </a:ln>
          <a:effectLst>
            <a:outerShdw blurRad="254000" dist="50800" dir="16200000" algn="bl" rotWithShape="0">
              <a:srgbClr val="10B981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051560"/>
            <a:ext cx="4069080" cy="32918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713732" y="685800"/>
            <a:ext cx="4151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VERIFICATION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713732" y="4398264"/>
            <a:ext cx="4151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8.1.1 — Build verification: frontend passed, port 5001, MongoDB connected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– END TO END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91440" cy="59436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8961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8778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14300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Vendor, or Admin authenticates via JWT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508760"/>
            <a:ext cx="841248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91440" cy="5943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1600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5819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1847088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category, search by name, view details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212848"/>
            <a:ext cx="841248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2212848"/>
            <a:ext cx="91440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3042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or Auction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551176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for direct buy OR join auction room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916936"/>
            <a:ext cx="841248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2916936"/>
            <a:ext cx="914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0083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29900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/ Payment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255264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wallet or pay via checkout for cart orders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621024"/>
            <a:ext cx="841248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3621024"/>
            <a:ext cx="9144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71246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7280" y="36941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/ Bid Result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3959352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confirmed OR winner declared in auction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325112"/>
            <a:ext cx="841248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65760" y="4325112"/>
            <a:ext cx="9144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8640" y="44165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97280" y="43982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97280" y="466344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notified about order status, bid results, alerts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– CORE COLLECTIONS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572768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1572768" cy="7315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9144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389888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4630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" y="1956816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84048" y="20299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2523744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259689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993392" y="804672"/>
            <a:ext cx="1572768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993392" y="804672"/>
            <a:ext cx="1572768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066544" y="9144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03120" y="1389888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103120" y="14630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03120" y="1956816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103120" y="20299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103120" y="2523744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103120" y="259689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12464" y="804672"/>
            <a:ext cx="1572768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712464" y="804672"/>
            <a:ext cx="15727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785616" y="9144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22192" y="1389888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22192" y="14630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822192" y="1956816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822192" y="20299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822192" y="2523744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822192" y="259689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822192" y="3090672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822192" y="316382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31536" y="804672"/>
            <a:ext cx="1572768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431536" y="804672"/>
            <a:ext cx="1572768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504688" y="9144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541264" y="1389888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541264" y="14630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541264" y="1956816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541264" y="20299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541264" y="2523744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541264" y="259689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541264" y="3090672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541264" y="316382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150608" y="804672"/>
            <a:ext cx="1572768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150608" y="804672"/>
            <a:ext cx="1572768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223760" y="9144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260336" y="1389888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260336" y="14630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260336" y="1956816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260336" y="20299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260336" y="2523744"/>
            <a:ext cx="132588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260336" y="259689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 DIAGRAM — ENTITY RELATIONSHIPS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database entity relationship diagram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964692"/>
            <a:ext cx="8586216" cy="3877056"/>
          </a:xfrm>
          <a:prstGeom prst="rect">
            <a:avLst/>
          </a:prstGeom>
          <a:solidFill>
            <a:srgbClr val="1A1A42"/>
          </a:solidFill>
          <a:ln w="25400">
            <a:solidFill>
              <a:srgbClr val="00E5FF"/>
            </a:solidFill>
            <a:prstDash val="solid"/>
          </a:ln>
          <a:effectLst>
            <a:outerShdw blurRad="254000" dist="50800" dir="16200000" algn="bl" rotWithShape="0">
              <a:srgbClr val="00E5FF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05840"/>
            <a:ext cx="8503920" cy="3794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4855464"/>
            <a:ext cx="8586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— All 19 entities with primary keys, foreign keys, and inter-collection references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 DIAGRAM — DETAILED ENTITY VIEW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entity fields and relationship mappings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982980"/>
            <a:ext cx="6117336" cy="3831336"/>
          </a:xfrm>
          <a:prstGeom prst="rect">
            <a:avLst/>
          </a:prstGeom>
          <a:solidFill>
            <a:srgbClr val="1A1A42"/>
          </a:solidFill>
          <a:ln w="25400">
            <a:solidFill>
              <a:srgbClr val="9B59F5"/>
            </a:solidFill>
            <a:prstDash val="solid"/>
          </a:ln>
          <a:effectLst>
            <a:outerShdw blurRad="254000" dist="50800" dir="16200000" algn="bl" rotWithShape="0">
              <a:srgbClr val="9B59F5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6035040" cy="3749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4828032"/>
            <a:ext cx="6117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4.1.1 — Detailed ER diagram prepared from the project data model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537960" y="1024128"/>
            <a:ext cx="228600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565392" y="105156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1:N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95744" y="105156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→ Product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537960" y="1664208"/>
            <a:ext cx="228600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9B59F5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565392" y="169164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1:N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095744" y="169164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Order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537960" y="2304288"/>
            <a:ext cx="228600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1A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565392" y="233172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1:1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095744" y="233172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Wallet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537960" y="2944368"/>
            <a:ext cx="228600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565392" y="297180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1:N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095744" y="297180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→ Payment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537960" y="3584448"/>
            <a:ext cx="228600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6565392" y="361188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1:N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095744" y="361188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→ Bid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537960" y="4224528"/>
            <a:ext cx="2286000" cy="566928"/>
          </a:xfrm>
          <a:prstGeom prst="rect">
            <a:avLst/>
          </a:prstGeom>
          <a:solidFill>
            <a:srgbClr val="16163A"/>
          </a:solidFill>
          <a:ln w="1905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565392" y="425196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1:N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095744" y="425196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→ Winner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– ENTITY RELATIONSHIPS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395020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vendor creates multiple products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category classifies many products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customer places multiple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order may have multiple payment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customer has one active cart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auction room contains many bids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room produces winners for each queued 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customer owns a single wallet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&amp; PHYSICAL DATA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605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886200" cy="34015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separation: Presentation → Application → Persistence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client gathers user input and renders views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validates requests and applies auth/authorization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entities as flexible document collections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extends the design for time-sensitive auction events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collections: Product, Auction, Bid, Order, Payment, Wallet, Customer, Vendor, Winner, Notification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605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00600" y="8686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298448"/>
            <a:ext cx="3794760" cy="34015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MongoDB collections with document references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IDs link customers ↔ orders ↔ payments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↔ products; Auction rooms ↔ bids ↔ winners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fields: room_status, payment_status, delivery_status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fields: created_at, updated_at, start_time, end_time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Index-oriented access on product IDs, room codes, user refs, and time fields for efficient retrieval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– KEY COLLECTIONS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657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vendor_id, category_id, product_name, price, stock, status, auction_room_id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product master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room_code, products[], current_price, participants[], start_time, end_time,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live auction room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auction_id, product_id, user_id, winner_name, winning_bid, result_type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declared winners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customer_id, items[], total_amount, status, delivery_deadline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shopping 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order_id, amount, payment_type, payment_status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payment 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user_id, items[], total_amount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active cart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email, password, wallet_balance, orders_count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customer account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MODEL — CONTEXT ANALYSIS (DFD LEVEL 0)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 and actor interactions at the highest level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982980"/>
            <a:ext cx="6483096" cy="3374136"/>
          </a:xfrm>
          <a:prstGeom prst="rect">
            <a:avLst/>
          </a:prstGeom>
          <a:solidFill>
            <a:srgbClr val="1A1A42"/>
          </a:solidFill>
          <a:ln w="25400">
            <a:solidFill>
              <a:srgbClr val="00E5FF"/>
            </a:solidFill>
            <a:prstDash val="solid"/>
          </a:ln>
          <a:effectLst>
            <a:outerShdw blurRad="254000" dist="50800" dir="16200000" algn="bl" rotWithShape="0">
              <a:srgbClr val="00E5FF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6400800" cy="32918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4370832"/>
            <a:ext cx="6483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0 — Context diagram: Customer, Vendor, Admin interact with the Fashion Auction System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949440" y="1024128"/>
            <a:ext cx="1874520" cy="914400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022592" y="1051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022592" y="133502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Cart, Orders, Bids, Wallet, Notifications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949440" y="2048256"/>
            <a:ext cx="1874520" cy="914400"/>
          </a:xfrm>
          <a:prstGeom prst="rect">
            <a:avLst/>
          </a:prstGeom>
          <a:solidFill>
            <a:srgbClr val="16163A"/>
          </a:solidFill>
          <a:ln w="19050">
            <a:solidFill>
              <a:srgbClr val="9B59F5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022592" y="20756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022592" y="23591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listing, Inventory, Sales analytics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9440" y="3072384"/>
            <a:ext cx="1874520" cy="914400"/>
          </a:xfrm>
          <a:prstGeom prst="rect">
            <a:avLst/>
          </a:prstGeom>
          <a:solidFill>
            <a:srgbClr val="16163A"/>
          </a:solidFill>
          <a:ln w="19050">
            <a:solidFill>
              <a:srgbClr val="1A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022592" y="309981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022592" y="33832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control, User mgmt, Auction management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949440" y="4096512"/>
            <a:ext cx="1874520" cy="914400"/>
          </a:xfrm>
          <a:prstGeom prst="rect">
            <a:avLst/>
          </a:prstGeom>
          <a:solidFill>
            <a:srgbClr val="16163A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7022592" y="412394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GW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022592" y="44074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payments, Send confirmations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DIAGRAM — ACTOR INTERACTIONS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use cases mapped to actors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982980"/>
            <a:ext cx="5202936" cy="3648456"/>
          </a:xfrm>
          <a:prstGeom prst="rect">
            <a:avLst/>
          </a:prstGeom>
          <a:solidFill>
            <a:srgbClr val="1A1A42"/>
          </a:solidFill>
          <a:ln w="25400">
            <a:solidFill>
              <a:srgbClr val="9B59F5"/>
            </a:solidFill>
            <a:prstDash val="solid"/>
          </a:ln>
          <a:effectLst>
            <a:outerShdw blurRad="254000" dist="50800" dir="16200000" algn="bl" rotWithShape="0">
              <a:srgbClr val="9B59F5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5120640" cy="35661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4645152"/>
            <a:ext cx="5202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4.2.2 — Use case diagram for admin, vendor, and customer actors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669280" y="1024128"/>
            <a:ext cx="3154680" cy="457200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742432" y="105156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UC-01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419088" y="10515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0" y="105156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Customer/Vendor/Admin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669280" y="1545336"/>
            <a:ext cx="3154680" cy="457200"/>
          </a:xfrm>
          <a:prstGeom prst="rect">
            <a:avLst/>
          </a:prstGeom>
          <a:solidFill>
            <a:srgbClr val="16163A"/>
          </a:solidFill>
          <a:ln w="19050">
            <a:solidFill>
              <a:srgbClr val="9B59F5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742432" y="15727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UC-02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419088" y="15727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229600" y="157276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Admin/Vendor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669280" y="2066544"/>
            <a:ext cx="3154680" cy="457200"/>
          </a:xfrm>
          <a:prstGeom prst="rect">
            <a:avLst/>
          </a:prstGeom>
          <a:solidFill>
            <a:srgbClr val="16163A"/>
          </a:solidFill>
          <a:ln w="19050">
            <a:solidFill>
              <a:srgbClr val="1A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742432" y="209397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UC-04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419088" y="20939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229600" y="209397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669280" y="2587752"/>
            <a:ext cx="3154680" cy="457200"/>
          </a:xfrm>
          <a:prstGeom prst="rect">
            <a:avLst/>
          </a:prstGeom>
          <a:solidFill>
            <a:srgbClr val="16163A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5742432" y="261518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UC-06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419088" y="26151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Payment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229600" y="261518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669280" y="3108960"/>
            <a:ext cx="3154680" cy="457200"/>
          </a:xfrm>
          <a:prstGeom prst="rect">
            <a:avLst/>
          </a:prstGeom>
          <a:solidFill>
            <a:srgbClr val="16163A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5742432" y="31363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UC-08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419088" y="31363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Auction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229600" y="313639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5669280" y="3630168"/>
            <a:ext cx="3154680" cy="457200"/>
          </a:xfrm>
          <a:prstGeom prst="rect">
            <a:avLst/>
          </a:prstGeom>
          <a:solidFill>
            <a:srgbClr val="16163A"/>
          </a:solidFill>
          <a:ln w="1905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5742432" y="36576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UC-10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419088" y="36576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Bid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229600" y="365760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669280" y="4151376"/>
            <a:ext cx="3154680" cy="457200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5742432" y="417880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UC-11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419088" y="41788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Product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8229600" y="417880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5669280" y="4672584"/>
            <a:ext cx="3154680" cy="457200"/>
          </a:xfrm>
          <a:prstGeom prst="rect">
            <a:avLst/>
          </a:prstGeom>
          <a:solidFill>
            <a:srgbClr val="16163A"/>
          </a:solidFill>
          <a:ln w="19050">
            <a:solidFill>
              <a:srgbClr val="9B59F5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5742432" y="470001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UC-12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6419088" y="470001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Winners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8229600" y="470001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MODEL — DFD LEVEL 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decomposition: core process modules of the system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982980"/>
            <a:ext cx="5431536" cy="3648456"/>
          </a:xfrm>
          <a:prstGeom prst="rect">
            <a:avLst/>
          </a:prstGeom>
          <a:solidFill>
            <a:srgbClr val="1A1A42"/>
          </a:solidFill>
          <a:ln w="25400">
            <a:solidFill>
              <a:srgbClr val="9B59F5"/>
            </a:solidFill>
            <a:prstDash val="solid"/>
          </a:ln>
          <a:effectLst>
            <a:outerShdw blurRad="254000" dist="50800" dir="16200000" algn="bl" rotWithShape="0">
              <a:srgbClr val="9B59F5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5349240" cy="35661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4645152"/>
            <a:ext cx="54315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1 — Six core processes: Authentication, Product Mgmt, Order/Payment, Wallet, Auction Engine, Notifications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897880" y="1024128"/>
            <a:ext cx="2926080" cy="548640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897880" y="1024128"/>
            <a:ext cx="59436" cy="5486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053328" y="1051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 — Authentication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53328" y="131673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JWT Token issue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897880" y="1636776"/>
            <a:ext cx="2926080" cy="548640"/>
          </a:xfrm>
          <a:prstGeom prst="rect">
            <a:avLst/>
          </a:prstGeom>
          <a:solidFill>
            <a:srgbClr val="16163A"/>
          </a:solidFill>
          <a:ln w="19050">
            <a:solidFill>
              <a:srgbClr val="9B59F5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5897880" y="1636776"/>
            <a:ext cx="59436" cy="54864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053328" y="1664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 — Product Mgmt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053328" y="192938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CRUD, Search, Stock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897880" y="2249424"/>
            <a:ext cx="2926080" cy="548640"/>
          </a:xfrm>
          <a:prstGeom prst="rect">
            <a:avLst/>
          </a:prstGeom>
          <a:solidFill>
            <a:srgbClr val="16163A"/>
          </a:solidFill>
          <a:ln w="19050">
            <a:solidFill>
              <a:srgbClr val="1A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5897880" y="2249424"/>
            <a:ext cx="59436" cy="548640"/>
          </a:xfrm>
          <a:prstGeom prst="rect">
            <a:avLst/>
          </a:prstGeom>
          <a:solidFill>
            <a:srgbClr val="1A7FFF"/>
          </a:solidFill>
          <a:ln w="12700">
            <a:solidFill>
              <a:srgbClr val="1A7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053328" y="22768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 — Order &amp; Payment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053328" y="254203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Checkout, Payment, History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897880" y="2862072"/>
            <a:ext cx="2926080" cy="548640"/>
          </a:xfrm>
          <a:prstGeom prst="rect">
            <a:avLst/>
          </a:prstGeom>
          <a:solidFill>
            <a:srgbClr val="16163A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5897880" y="2862072"/>
            <a:ext cx="59436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053328" y="28895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 — Wallet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053328" y="31546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Top-up, Balance Check, History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897880" y="3474720"/>
            <a:ext cx="2926080" cy="548640"/>
          </a:xfrm>
          <a:prstGeom prst="rect">
            <a:avLst/>
          </a:prstGeom>
          <a:solidFill>
            <a:srgbClr val="16163A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5897880" y="3474720"/>
            <a:ext cx="59436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053328" y="35021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P5 — Auction Engine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053328" y="376732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Room, Bidding, Winner, Socket.IO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897880" y="4087368"/>
            <a:ext cx="2926080" cy="548640"/>
          </a:xfrm>
          <a:prstGeom prst="rect">
            <a:avLst/>
          </a:prstGeom>
          <a:solidFill>
            <a:srgbClr val="16163A"/>
          </a:solidFill>
          <a:ln w="1905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5897880" y="4087368"/>
            <a:ext cx="59436" cy="5486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6053328" y="4114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P6 — Notifications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053328" y="437997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Unread Count, Events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MODEL — DFD LEVEL 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sub-process decomposition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982980"/>
            <a:ext cx="8586216" cy="3831336"/>
          </a:xfrm>
          <a:prstGeom prst="rect">
            <a:avLst/>
          </a:prstGeom>
          <a:solidFill>
            <a:srgbClr val="1A1A42"/>
          </a:solidFill>
          <a:ln w="25400">
            <a:solidFill>
              <a:srgbClr val="9B59F5"/>
            </a:solidFill>
            <a:prstDash val="solid"/>
          </a:ln>
          <a:effectLst>
            <a:outerShdw blurRad="254000" dist="50800" dir="16200000" algn="bl" rotWithShape="0">
              <a:srgbClr val="9B59F5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87552"/>
            <a:ext cx="8503920" cy="40690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4828032"/>
            <a:ext cx="8586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2 — Detailed auction sub-processes: Room Creation, Entry, Live Bidding, Fold, Finalization, Winner Declaration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MODEL — DFD LEVEL 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bid placement operational flow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982980"/>
            <a:ext cx="8586216" cy="3374136"/>
          </a:xfrm>
          <a:prstGeom prst="rect">
            <a:avLst/>
          </a:prstGeom>
          <a:solidFill>
            <a:srgbClr val="1A1A42"/>
          </a:solidFill>
          <a:ln w="25400">
            <a:solidFill>
              <a:srgbClr val="00E5FF"/>
            </a:solidFill>
            <a:prstDash val="solid"/>
          </a:ln>
          <a:effectLst>
            <a:outerShdw blurRad="254000" dist="50800" dir="16200000" algn="bl" rotWithShape="0">
              <a:srgbClr val="00E5FF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297" y="2282092"/>
            <a:ext cx="8339406" cy="91627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4370832"/>
            <a:ext cx="8586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3 — Detailed flow: JoinAuction → ValidateUser → FreezeWallet → PlaceBid → CompareBids → Winner → NotifyUser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20040" y="4480560"/>
            <a:ext cx="1115568" cy="438912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20040" y="4489704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JoinAuction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435608" y="4507992"/>
            <a:ext cx="11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5FF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554480" y="4480560"/>
            <a:ext cx="1115568" cy="438912"/>
          </a:xfrm>
          <a:prstGeom prst="rect">
            <a:avLst/>
          </a:prstGeom>
          <a:solidFill>
            <a:srgbClr val="16163A"/>
          </a:solidFill>
          <a:ln w="19050">
            <a:solidFill>
              <a:srgbClr val="1A7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554480" y="4489704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ValidateUser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670048" y="4507992"/>
            <a:ext cx="11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5FF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788920" y="4480560"/>
            <a:ext cx="1115568" cy="438912"/>
          </a:xfrm>
          <a:prstGeom prst="rect">
            <a:avLst/>
          </a:prstGeom>
          <a:solidFill>
            <a:srgbClr val="16163A"/>
          </a:solidFill>
          <a:ln w="1905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2788920" y="4489704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FreezeWallet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904488" y="4507992"/>
            <a:ext cx="11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5FF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023360" y="4480560"/>
            <a:ext cx="1115568" cy="438912"/>
          </a:xfrm>
          <a:prstGeom prst="rect">
            <a:avLst/>
          </a:prstGeom>
          <a:solidFill>
            <a:srgbClr val="16163A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023360" y="4489704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PlaceBid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138928" y="4507992"/>
            <a:ext cx="11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5FF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257800" y="4480560"/>
            <a:ext cx="1115568" cy="438912"/>
          </a:xfrm>
          <a:prstGeom prst="rect">
            <a:avLst/>
          </a:prstGeom>
          <a:solidFill>
            <a:srgbClr val="16163A"/>
          </a:solidFill>
          <a:ln w="1905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5257800" y="4489704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CompareBids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373368" y="4507992"/>
            <a:ext cx="11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5FF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492240" y="4480560"/>
            <a:ext cx="1115568" cy="438912"/>
          </a:xfrm>
          <a:prstGeom prst="rect">
            <a:avLst/>
          </a:prstGeom>
          <a:solidFill>
            <a:srgbClr val="16163A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492240" y="4489704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Winner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607808" y="4507992"/>
            <a:ext cx="11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5FF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726680" y="4480560"/>
            <a:ext cx="1115568" cy="438912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7726680" y="4489704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NotifyUser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 &amp; TABLE — AUCTION BID LOGIC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 for bid acceptance or rejection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1005840"/>
            <a:ext cx="4160520" cy="3749040"/>
          </a:xfrm>
          <a:prstGeom prst="rect">
            <a:avLst/>
          </a:prstGeom>
          <a:solidFill>
            <a:srgbClr val="16163A"/>
          </a:solidFill>
          <a:ln w="19050">
            <a:solidFill>
              <a:srgbClr val="00E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103327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 — BID FLOW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14356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user authenticated as Customer?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1801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YES → Is auction room LIVE?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1671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YES → Is wallet balance sufficient?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25328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YES → Is bid ≥ next bid amount?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28986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YES → ✅ BID ACCEPTED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2644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NO  → ✗ Bid Rejected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630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NO  → Customer Folded/Blocked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9959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NO  → Room unavailable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3616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 → Access Rejected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005840"/>
            <a:ext cx="4023360" cy="3749040"/>
          </a:xfrm>
          <a:prstGeom prst="rect">
            <a:avLst/>
          </a:prstGeom>
          <a:solidFill>
            <a:srgbClr val="16163A"/>
          </a:solidFill>
          <a:ln w="19050">
            <a:solidFill>
              <a:srgbClr val="9B59F5"/>
            </a:solidFill>
            <a:prstDash val="solid"/>
          </a:ln>
          <a:effectLst>
            <a:outerShdw blurRad="101600" dist="254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54880" y="10332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TABLE</a:t>
            </a:r>
            <a:endParaRPr lang="en-US" sz="11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/>
        </p:nvGraphicFramePr>
        <p:xfrm>
          <a:off x="4800600" y="1417320"/>
          <a:ext cx="3931920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B5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Proceed to room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LIVE?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Proceed to wallet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unavailable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sufficient?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Proceed to bid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 / Block bidder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 amount valid?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&amp; broadcast bid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bid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5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RELATIONSHIPS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521208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914400" cy="521208"/>
          </a:xfrm>
          <a:prstGeom prst="rect">
            <a:avLst/>
          </a:prstGeom>
          <a:solidFill>
            <a:srgbClr val="7B2FBE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914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8686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→ Product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10642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can own multiple fashion products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8503920" cy="521208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1417320"/>
            <a:ext cx="914400" cy="521208"/>
          </a:xfrm>
          <a:prstGeom prst="rect">
            <a:avLst/>
          </a:prstGeom>
          <a:solidFill>
            <a:srgbClr val="7B2FBE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417320"/>
            <a:ext cx="914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14813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→ Product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171907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category classifies many products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029968"/>
            <a:ext cx="8503920" cy="521208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2029968"/>
            <a:ext cx="914400" cy="521208"/>
          </a:xfrm>
          <a:prstGeom prst="rect">
            <a:avLst/>
          </a:prstGeom>
          <a:solidFill>
            <a:srgbClr val="7B2FBE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2029968"/>
            <a:ext cx="914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20939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Order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23317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can place multiple orders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642616"/>
            <a:ext cx="8503920" cy="521208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2642616"/>
            <a:ext cx="914400" cy="521208"/>
          </a:xfrm>
          <a:prstGeom prst="rect">
            <a:avLst/>
          </a:prstGeom>
          <a:solidFill>
            <a:srgbClr val="7B2FBE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2642616"/>
            <a:ext cx="914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270662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→ Payment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29443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may have related payment records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255264"/>
            <a:ext cx="8503920" cy="521208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3255264"/>
            <a:ext cx="914400" cy="521208"/>
          </a:xfrm>
          <a:prstGeom prst="rect">
            <a:avLst/>
          </a:prstGeom>
          <a:solidFill>
            <a:srgbClr val="7B2FBE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3255264"/>
            <a:ext cx="914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33192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→ Bid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71600" y="355701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auction room contains many bids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867912"/>
            <a:ext cx="8503920" cy="521208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20040" y="3867912"/>
            <a:ext cx="914400" cy="521208"/>
          </a:xfrm>
          <a:prstGeom prst="rect">
            <a:avLst/>
          </a:prstGeom>
          <a:solidFill>
            <a:srgbClr val="7B2FBE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3867912"/>
            <a:ext cx="914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71600" y="39319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→ Winner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371600" y="41696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room produces winners for multiple queued products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4480560"/>
            <a:ext cx="8503920" cy="521208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20040" y="4480560"/>
            <a:ext cx="914400" cy="521208"/>
          </a:xfrm>
          <a:prstGeom prst="rect">
            <a:avLst/>
          </a:prstGeom>
          <a:solidFill>
            <a:srgbClr val="7B2FBE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0040" y="4480560"/>
            <a:ext cx="914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71600" y="45445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Wallet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71600" y="47823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 owns a single wallet record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MODEL – CONTEXT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0" y="1828800"/>
            <a:ext cx="3291840" cy="1371600"/>
          </a:xfrm>
          <a:prstGeom prst="rect">
            <a:avLst/>
          </a:prstGeom>
          <a:solidFill>
            <a:srgbClr val="7B2FB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926080" y="18288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Auction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777240"/>
            <a:ext cx="2468880" cy="77724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841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1612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rooms,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auctions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2560320"/>
            <a:ext cx="2468880" cy="77724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624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9443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4114800"/>
            <a:ext cx="2468880" cy="77724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4178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44988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bid,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buy, wallet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777240"/>
            <a:ext cx="2468880" cy="77724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92240" y="841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11612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payments,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3840480"/>
            <a:ext cx="2468880" cy="77724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92240" y="3904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2245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– ACTOR INTERACTIONS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51713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&amp; 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Customer/Vendor/Admin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authenticates into the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Products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/ Vendor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update, search, and remove products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Categories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and maintain product categories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to Cart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product and update quantity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 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selected cart 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Payment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for an order using supported methods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Wallet Money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wallet balance for future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Auction 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 auction room and assign 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Auction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active room and view room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 Bid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 on live auction 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Finalize 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current product sold or move to 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Winners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/ 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winner list and winning bid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– LEVEL 0 (CONTEXT LEVEL)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828800"/>
            <a:ext cx="1371600" cy="594360"/>
          </a:xfrm>
          <a:prstGeom prst="rect">
            <a:avLst/>
          </a:prstGeom>
          <a:solidFill>
            <a:srgbClr val="0A1628"/>
          </a:solidFill>
          <a:ln w="1524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18288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3200400"/>
            <a:ext cx="1371600" cy="594360"/>
          </a:xfrm>
          <a:prstGeom prst="rect">
            <a:avLst/>
          </a:prstGeom>
          <a:solidFill>
            <a:srgbClr val="0A1628"/>
          </a:solidFill>
          <a:ln w="1524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82880" y="3200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804672"/>
            <a:ext cx="1371600" cy="594360"/>
          </a:xfrm>
          <a:prstGeom prst="rect">
            <a:avLst/>
          </a:prstGeom>
          <a:solidFill>
            <a:srgbClr val="0A1628"/>
          </a:solidFill>
          <a:ln w="1524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82880" y="80467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743200" cy="2560320"/>
          </a:xfrm>
          <a:prstGeom prst="ellipse">
            <a:avLst/>
          </a:prstGeom>
          <a:solidFill>
            <a:srgbClr val="7B2FBE"/>
          </a:solidFill>
          <a:ln w="254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0" y="128016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Auction System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2011680"/>
            <a:ext cx="2011680" cy="640080"/>
          </a:xfrm>
          <a:prstGeom prst="rect">
            <a:avLst/>
          </a:prstGeom>
          <a:solidFill>
            <a:srgbClr val="0D1B2E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4343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Registration, Browse, Orders, Bids, Wallet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Product data, Order status, Auction state, Notifications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– LEVEL 1 (PROCESS DECOMPOSITION)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697480" cy="178308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502920" cy="502920"/>
          </a:xfrm>
          <a:prstGeom prst="ellipse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896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9418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90472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JWT Token Issue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697480" cy="178308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46120" y="896112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46120" y="896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9418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1490472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CRUD, Search, Stock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804672"/>
            <a:ext cx="2697480" cy="178308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26480" y="89611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896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9418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Payment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1490472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Checkout, Payment, History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770632"/>
            <a:ext cx="2697480" cy="178308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2862072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2907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Management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456432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Top-up, Balance Check, History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2770632"/>
            <a:ext cx="2697480" cy="178308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46120" y="2862072"/>
            <a:ext cx="502920" cy="5029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4612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0" y="2907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Engine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46120" y="3456432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Room, Bidding, Winner, Socket.IO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2770632"/>
            <a:ext cx="2697480" cy="178308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126480" y="2862072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12648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20840" y="2907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3456432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Unread Count, Events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2 &amp; LEVEL 3 – AUCTION DEEP DIVE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605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– Auction Sub-Process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886200" cy="34015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P5.1 – Room Creation: Admin creates room + assigns products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P5.2 – Room Entry: Customer joins with wallet validation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P5.3 – Live Bidding: Bid submission, validation, broadcast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P5.4 – Fold Action: Participant marks as folded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P5.5 – Finalization: Admin marks SOLD / UNSOLD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P5.6 – Winner Declaration: Winner stored in DB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605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00600" y="8686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– Bid Placement 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298448"/>
            <a:ext cx="3794760" cy="34015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submits bid via Socket.IO 'auction:bid' event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 customer is authenticated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confirms room is LIVE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checks wallet balance ≥ bid amount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 bid ≥ next_bid_amount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stored in Bid collection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current_price updated in Auction document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emits 'auction:state' to all room participants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&amp; DECISION TABLE – AUCTION LOGIC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605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– Bid Participation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886200" cy="34015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user authenticated as Customer?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YES → Is auction room LIVE?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YES → Is wallet balance sufficient?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YES → Is bid amount ≥ next bid?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YES → BID ACCEPTED 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  → Bid Rejected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  → Customer Folded/Blocked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  → Room unavailable message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  → Access Rejected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605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00600" y="8686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4023360" cy="25603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→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→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Proceed to room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LIVE?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Proceed to wallet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unavailable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sufficient?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Proceed to bid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Fold/Block bidder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 amount valid?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&amp; broadcast bid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bid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N-TIER ARCHITECTURE – LAYER DETAILS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896112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91440" cy="89611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8778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Presentation Tier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App.jsx, pages/*, components/*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3990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rendering, user interaction, navigation, lazy loading, protected routes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837944"/>
            <a:ext cx="8503920" cy="896112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1837944"/>
            <a:ext cx="91440" cy="8961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19110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Business Logic Tier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2199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controllers/, services/, middleware/, socket handlers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4323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workflow control, role checks, JWT authentication, Socket.IO events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871216"/>
            <a:ext cx="8503920" cy="896112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2871216"/>
            <a:ext cx="91440" cy="8961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2944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Persistence Tier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25526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models/*.js — MongoDB with Mongoose ODM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46557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definition, document storage, indexing, reference-based relationships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904488"/>
            <a:ext cx="8503920" cy="896112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3904488"/>
            <a:ext cx="91440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977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Real-Time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28853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server.js + socket.io-client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4988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bid synchronization, room state updates, auction events: join, bid, fold, chat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– AUCTION, ORDER, WALLET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Bid Algorithm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2560320" cy="3474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Receive bid via socket 'auction:bid'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Verify CUSTOMER role &amp; auth token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Fetch room → check status = LIVE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Validate wallet balance ≥ bid amount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Validate bidAmount ≥ next_bid_amount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Store bid in Bid collection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Update room's current_price &amp; highest_bidder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Emit 'auction:state' to all room participants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777240"/>
            <a:ext cx="274320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46120" y="868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Checkout Algorithm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325880"/>
            <a:ext cx="2560320" cy="3474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Fetch cart items by user_id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cart is not empty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Calculate grand total of selected items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Create Order record with PENDING status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Process payment (amount, type)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IF success: mark Order = PAID, reduce stock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ELSE: mark payment = FAILED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Send order confirmation notification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777240"/>
            <a:ext cx="274320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35040" y="77724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26480" y="868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Top-Up Algorithm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325880"/>
            <a:ext cx="2560320" cy="3474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Receive user_id and top-up amount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Validate amount &gt; 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Fetch wallet by user_id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IF not exists: CREATE new wallet record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Increment cash balance by amount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Append CREDIT entry to transaction history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Return updated wallet with new balance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— NAVIGATION FLOW DIAGRAM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SPA route map across all modules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982980"/>
            <a:ext cx="8586216" cy="3694176"/>
          </a:xfrm>
          <a:prstGeom prst="rect">
            <a:avLst/>
          </a:prstGeom>
          <a:solidFill>
            <a:srgbClr val="1A1A42"/>
          </a:solidFill>
          <a:ln w="25400">
            <a:solidFill>
              <a:srgbClr val="00E5FF"/>
            </a:solidFill>
            <a:prstDash val="solid"/>
          </a:ln>
          <a:effectLst>
            <a:outerShdw blurRad="254000" dist="50800" dir="16200000" algn="bl" rotWithShape="0">
              <a:srgbClr val="00E5FF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8503920" cy="36118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4690872"/>
            <a:ext cx="8586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6.1.1 — High-level navigation flow: 82 routes across Customer, Admin, Vendor, Auction, Wallet modules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FRONTEND (REACT)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605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886200" cy="34015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with Vite build tool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for SPA route management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routes across all modules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with Suspense for performance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ProtectedRoute guards for auth-only pages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PageTransition &amp; RouteAnimator for UX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for REST API calls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 for real-time events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605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00600" y="8686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Pages &amp; Sections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397764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0" y="13624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0" y="13624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Dashboard, Profile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783080"/>
            <a:ext cx="397764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00600" y="18470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52160" y="1847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Products, Details, Analytics, Search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267712"/>
            <a:ext cx="397764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0600" y="23317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Cart/Order: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52160" y="2331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Checkout, Orders, Cancel, Tracking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752344"/>
            <a:ext cx="397764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00600" y="28163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52160" y="28163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Add Money, History, Bank Account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236976"/>
            <a:ext cx="397764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00600" y="33009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52160" y="3300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Customers, Vendors, Orders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721608"/>
            <a:ext cx="397764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00600" y="37856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52160" y="37856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Panel, Products, Orders, Sales Analytics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4206240"/>
            <a:ext cx="397764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00600" y="42702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52160" y="42702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Join Room, Live Bidding, Winners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BACKEND (NODE.JS + EXPRESS)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605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886200" cy="34015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runtime with Express.js framework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feature modules with route/controller/service/model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API route mounts in server.js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role-specific secrets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enabled for React frontend connection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for product image file uploads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 for MongoDB schema &amp; validation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 middleware for consistent responses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605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00600" y="8686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3977640" cy="347472"/>
          </a:xfrm>
          <a:prstGeom prst="rect">
            <a:avLst/>
          </a:prstGeom>
          <a:solidFill>
            <a:srgbClr val="0A1628"/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34416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57800" y="134416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/api/admin/register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06640" y="134416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admin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719072"/>
            <a:ext cx="3977640" cy="347472"/>
          </a:xfrm>
          <a:prstGeom prst="rect">
            <a:avLst/>
          </a:prstGeom>
          <a:solidFill>
            <a:srgbClr val="0A1628"/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0" y="176479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57800" y="176479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/api/customer/register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06640" y="176479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customer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139696"/>
            <a:ext cx="3977640" cy="347472"/>
          </a:xfrm>
          <a:prstGeom prst="rect">
            <a:avLst/>
          </a:prstGeom>
          <a:solidFill>
            <a:srgbClr val="0A1628"/>
          </a:solidFill>
          <a:ln w="508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0" y="218541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57800" y="218541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06640" y="218541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products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560320"/>
            <a:ext cx="3977640" cy="347472"/>
          </a:xfrm>
          <a:prstGeom prst="rect">
            <a:avLst/>
          </a:prstGeom>
          <a:solidFill>
            <a:srgbClr val="0A1628"/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260604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57800" y="260604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/api/cart/add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06640" y="260604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 to cart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980944"/>
            <a:ext cx="3977640" cy="347472"/>
          </a:xfrm>
          <a:prstGeom prst="rect">
            <a:avLst/>
          </a:prstGeom>
          <a:solidFill>
            <a:srgbClr val="0A1628"/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54880" y="302666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57800" y="302666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06640" y="302666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401568"/>
            <a:ext cx="3977640" cy="347472"/>
          </a:xfrm>
          <a:prstGeom prst="rect">
            <a:avLst/>
          </a:prstGeom>
          <a:solidFill>
            <a:srgbClr val="0A1628"/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0" y="344728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57800" y="344728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/api/wallet/add-money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06640" y="344728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wallet funds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822192"/>
            <a:ext cx="3977640" cy="347472"/>
          </a:xfrm>
          <a:prstGeom prst="rect">
            <a:avLst/>
          </a:prstGeom>
          <a:solidFill>
            <a:srgbClr val="0A1628"/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54880" y="386791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57800" y="386791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/api/auction/create-room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06640" y="386791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auction room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4242816"/>
            <a:ext cx="3977640" cy="347472"/>
          </a:xfrm>
          <a:prstGeom prst="rect">
            <a:avLst/>
          </a:prstGeom>
          <a:solidFill>
            <a:srgbClr val="0A1628"/>
          </a:solidFill>
          <a:ln w="508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54880" y="428853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57800" y="428853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/api/auction/room/:id/state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06640" y="428853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room state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4663440"/>
            <a:ext cx="3977640" cy="347472"/>
          </a:xfrm>
          <a:prstGeom prst="rect">
            <a:avLst/>
          </a:prstGeom>
          <a:solidFill>
            <a:srgbClr val="0A1628"/>
          </a:solidFill>
          <a:ln w="508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54880" y="47091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57800" y="470916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/api/winner/:auction_id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06640" y="470916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winner details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— DATABASE (MONGODB COMPASS)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database verification with active collections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982980"/>
            <a:ext cx="8586216" cy="3602736"/>
          </a:xfrm>
          <a:prstGeom prst="rect">
            <a:avLst/>
          </a:prstGeom>
          <a:solidFill>
            <a:srgbClr val="1A1A42"/>
          </a:solidFill>
          <a:ln w="25400">
            <a:solidFill>
              <a:srgbClr val="10B981"/>
            </a:solidFill>
            <a:prstDash val="solid"/>
          </a:ln>
          <a:effectLst>
            <a:outerShdw blurRad="254000" dist="50800" dir="16200000" algn="bl" rotWithShape="0">
              <a:srgbClr val="10B981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8503920" cy="35204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4599432"/>
            <a:ext cx="8586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7.1.1 — MongoDB Compass: active collections auctions, bids, carts, cart_items, customers, orders, products, wallets, and 11 more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Collections: auctions  ·  bids  ·  carts  ·  cart_items  ·  customers  ·  orders  ·  order_items  ·  payments  ·  products  ·  wallets  ·  wallet_transactions  ·  vendors  ·  admins  ·  addresses  ·  subscriptions  ·  notifications  ·  reviews  ·  wishlist  ·  feedbacks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AUCTION – SOCKET.IO INTEGRATION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605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Events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388620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3533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auction:join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 Admin joins auction room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388620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901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auction:bid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places a bid with amount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95728"/>
            <a:ext cx="388620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2450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auction:fold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6517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exits current product round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44368"/>
            <a:ext cx="388620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9992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auction:chat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sends message in auction room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93008"/>
            <a:ext cx="388620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35478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auction:state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7490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emits updated room state to 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41648"/>
            <a:ext cx="388620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40965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auction:bid-placed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notifies all of new highest bid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777240"/>
            <a:ext cx="41605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00600" y="8686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LiveAuctionRoom Component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1298448"/>
            <a:ext cx="3794760" cy="34015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server via io() from socket.io-client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with JWT token on connect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auction:join → receives full room state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REST API every 2 seconds for fallback sync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Displays: current product, timer, current price, next bid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recent bid history with bidder names and amounts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Handles: fold button, bid input with validation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Animates price change with 'pricePulse' visual feedback</a:t>
            </a:r>
            <a:endParaRPr lang="en-US" sz="11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– TEST CASE SUMMARY</a:t>
            </a:r>
            <a:endParaRPr lang="en-US" sz="2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80390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Scenarios Covered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TC01-TC05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login valid/invalid, Vendor &amp; Admin 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TC06-TC09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all products, search, add/view categories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TC10-TC13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&amp; 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to cart, remove item, create order, cancel 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TC14-TC15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&amp; Wallet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payment, wallet top-up, view history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TC16-TC22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room, join room, socket join, valid bid, low bid, fold, close 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TC23-TC24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 &amp; Notifications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winner list, unread notification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TC25-TC26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Real-Time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 route without token, bid broadcast via socket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MERITS OF THE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91440" cy="59436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941832"/>
            <a:ext cx="274320" cy="274320"/>
          </a:xfrm>
          <a:prstGeom prst="ellipse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8595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113385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direct sales and live auction in a single application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850392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1508760"/>
            <a:ext cx="91440" cy="5943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02920" y="1645920"/>
            <a:ext cx="274320" cy="2743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15636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Engagement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1837944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pushes bid updates — no manual refresh needed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850392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2212848"/>
            <a:ext cx="9144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" y="2350008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22677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Scalability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2542032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Express routes + MongoDB enables horizontal scaling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16936"/>
            <a:ext cx="850392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2916936"/>
            <a:ext cx="914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02920" y="305409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14400" y="2971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Wallet-Driven Bidding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4400" y="324612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balance controls bidding eligibility, preventing fraud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621024"/>
            <a:ext cx="850392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3621024"/>
            <a:ext cx="91440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02920" y="3758184"/>
            <a:ext cx="274320" cy="2743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14400" y="36758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4400" y="395020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Vendor, Customer each get secure, dedicated dashboards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325112"/>
            <a:ext cx="850392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20040" y="4325112"/>
            <a:ext cx="91440" cy="594360"/>
          </a:xfrm>
          <a:prstGeom prst="rect">
            <a:avLst/>
          </a:prstGeom>
          <a:solidFill>
            <a:srgbClr val="A0B4CC"/>
          </a:solidFill>
          <a:ln w="12700">
            <a:solidFill>
              <a:srgbClr val="A0B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02920" y="4462272"/>
            <a:ext cx="274320" cy="274320"/>
          </a:xfrm>
          <a:prstGeom prst="ellipse">
            <a:avLst/>
          </a:prstGeom>
          <a:solidFill>
            <a:srgbClr val="A0B4CC"/>
          </a:solidFill>
          <a:ln w="12700">
            <a:solidFill>
              <a:srgbClr val="A0B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14400" y="43799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Build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14400" y="46542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build passed (April 2026), backend started on port 5001, MongoDB connected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9B59F5">
              <a:alpha val="8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ANALYSIS — CODEBASE METRICS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analysis of the system build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9B59F5">
              <a:alpha val="55000"/>
            </a:srgbClr>
          </a:solidFill>
          <a:ln w="12700">
            <a:solidFill>
              <a:srgbClr val="9B5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" y="982980"/>
            <a:ext cx="2825496" cy="2139696"/>
          </a:xfrm>
          <a:prstGeom prst="rect">
            <a:avLst/>
          </a:prstGeom>
          <a:solidFill>
            <a:srgbClr val="1A1A42"/>
          </a:solidFill>
          <a:ln w="25400">
            <a:solidFill>
              <a:srgbClr val="00E5FF"/>
            </a:solidFill>
            <a:prstDash val="solid"/>
          </a:ln>
          <a:effectLst>
            <a:outerShdw blurRad="254000" dist="50800" dir="16200000" algn="bl" rotWithShape="0">
              <a:srgbClr val="00E5FF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2743200" cy="20574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8892" y="658368"/>
            <a:ext cx="2825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CODEBASE METRICS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8892" y="3136392"/>
            <a:ext cx="2825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 — Size, files, structure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04972" y="982980"/>
            <a:ext cx="2916936" cy="2139696"/>
          </a:xfrm>
          <a:prstGeom prst="rect">
            <a:avLst/>
          </a:prstGeom>
          <a:solidFill>
            <a:srgbClr val="1A1A42"/>
          </a:solidFill>
          <a:ln w="25400">
            <a:solidFill>
              <a:srgbClr val="9B59F5"/>
            </a:solidFill>
            <a:prstDash val="solid"/>
          </a:ln>
          <a:effectLst>
            <a:outerShdw blurRad="254000" dist="50800" dir="16200000" algn="bl" rotWithShape="0">
              <a:srgbClr val="9B59F5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46120" y="1024128"/>
            <a:ext cx="2834640" cy="20574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04972" y="658368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5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COVERAGE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204972" y="3136392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 — Frontend route distribution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131052" y="982980"/>
            <a:ext cx="2734056" cy="2139696"/>
          </a:xfrm>
          <a:prstGeom prst="rect">
            <a:avLst/>
          </a:prstGeom>
          <a:solidFill>
            <a:srgbClr val="1A1A42"/>
          </a:solidFill>
          <a:ln w="25400">
            <a:solidFill>
              <a:srgbClr val="1A7FFF"/>
            </a:solidFill>
            <a:prstDash val="solid"/>
          </a:ln>
          <a:effectLst>
            <a:outerShdw blurRad="254000" dist="50800" dir="16200000" algn="bl" rotWithShape="0">
              <a:srgbClr val="1A7FFF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72200" y="1024128"/>
            <a:ext cx="2651760" cy="20574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31052" y="658368"/>
            <a:ext cx="2734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COMPOSITION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131052" y="3136392"/>
            <a:ext cx="2734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 — Backend file breakdown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278892" y="3204972"/>
            <a:ext cx="4197096" cy="1773936"/>
          </a:xfrm>
          <a:prstGeom prst="rect">
            <a:avLst/>
          </a:prstGeom>
          <a:solidFill>
            <a:srgbClr val="1A1A42"/>
          </a:solidFill>
          <a:ln w="25400">
            <a:solidFill>
              <a:srgbClr val="F59E0B"/>
            </a:solidFill>
            <a:prstDash val="solid"/>
          </a:ln>
          <a:effectLst>
            <a:outerShdw blurRad="254000" dist="50800" dir="16200000" algn="bl" rotWithShape="0">
              <a:srgbClr val="F59E0B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0040" y="3246120"/>
            <a:ext cx="4114800" cy="16916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78892" y="2880360"/>
            <a:ext cx="4197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DISTRIBUTION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278892" y="4992624"/>
            <a:ext cx="4197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4 — Backend feature distribution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4713732" y="3204972"/>
            <a:ext cx="4151376" cy="1773936"/>
          </a:xfrm>
          <a:prstGeom prst="rect">
            <a:avLst/>
          </a:prstGeom>
          <a:solidFill>
            <a:srgbClr val="1A1A42"/>
          </a:solidFill>
          <a:ln w="25400">
            <a:solidFill>
              <a:srgbClr val="10B981"/>
            </a:solidFill>
            <a:prstDash val="solid"/>
          </a:ln>
          <a:effectLst>
            <a:outerShdw blurRad="254000" dist="50800" dir="16200000" algn="bl" rotWithShape="0">
              <a:srgbClr val="10B981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54880" y="3246120"/>
            <a:ext cx="4069080" cy="16916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713732" y="2880360"/>
            <a:ext cx="4151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AUCTION WORKFLOW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713732" y="4992624"/>
            <a:ext cx="4151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5 — Auction workflow analysis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1E"/>
          </a:solidFill>
          <a:ln w="12700">
            <a:solidFill>
              <a:srgbClr val="0D0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  ●  Sheik Abdulla S  ●  24SPCA043  ●  VHNSN College  ●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THE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046720" cy="34015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auction quality depends on stable network connectivity — poor connections affect bid visibility and timer precision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relies on application-level logic for bid validation, fold state, and winner declaration — not database transactions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concurrent auction participation may require horizontal scaling and load-balancing strategies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and fraud-detection mechanisms are not yet fully implemented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main JavaScript chunk is 657 KB — bundle splitting is recommended for production optimization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Admin email index warning observed during server boot — schema cleanup needed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mobile application support currently — browser only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697480" cy="1810512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69748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4048" y="9144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1307592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673352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 engine and dynamic pricing based on demand patterns and user behavior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697480" cy="1810512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54680" y="804672"/>
            <a:ext cx="269748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64408" y="9144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64408" y="1307592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673352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and iOS apps for seamless mobile shopping and live auction participation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804672"/>
            <a:ext cx="2697480" cy="1810512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0" y="804672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44768" y="9144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44768" y="1307592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Fraud Detection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4768" y="1673352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suspicious bidding alerts and anomaly detection to ensure fair auction practices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798064"/>
            <a:ext cx="2697480" cy="1810512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2798064"/>
            <a:ext cx="2697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84048" y="290779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4048" y="330098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Streaming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3666744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 support for host-led auction sessions — show products in real time to bidders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2798064"/>
            <a:ext cx="2697480" cy="1810512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154680" y="2798064"/>
            <a:ext cx="269748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64408" y="290779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64408" y="330098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64408" y="3666744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dashboards for sales trends, bidding behavior analysis, and customer insights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2798064"/>
            <a:ext cx="2697480" cy="1810512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035040" y="2798064"/>
            <a:ext cx="269748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144768" y="290779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44768" y="330098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&amp; Performance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44768" y="3666744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with bundle splitting, lazy loading improvements, and offline support</a:t>
            </a:r>
            <a:endParaRPr lang="en-US" sz="10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416052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28800" y="1371600"/>
            <a:ext cx="5486400" cy="3657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8046720" cy="3200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 full-stack Fashion E-Commerce platform with integrated Live Auction System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(MongoDB, Express.js, React.js, Node.js) with Socket.IO enables real-time bidding for all users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modular architecture supports scalability, maintainability, and clear separation of concerns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26 test cases passed — Authentication, Product, Cart, Order, Payment, Wallet, Auction, Security, Real-Time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frontend routes, 19 backend modules, 21 API mounts, and 19 Mongoose models implemented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the best of traditional e-commerce with live digital auction for a modern fashion marketplace</a:t>
            </a:r>
            <a:endParaRPr lang="en-US" sz="13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 &amp; 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solidFill>
            <a:srgbClr val="0A1628"/>
          </a:solidFill>
          <a:ln w="508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84124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84124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Documentation — Schema design, aggregation, and indexing.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216152"/>
            <a:ext cx="8503920" cy="384048"/>
          </a:xfrm>
          <a:prstGeom prst="rect">
            <a:avLst/>
          </a:prstGeom>
          <a:solidFill>
            <a:srgbClr val="0A1628"/>
          </a:solidFill>
          <a:ln w="508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2801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2801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Documentation — Routing, middleware, and REST API patterns.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655064"/>
            <a:ext cx="8503920" cy="384048"/>
          </a:xfrm>
          <a:prstGeom prst="rect">
            <a:avLst/>
          </a:prstGeom>
          <a:solidFill>
            <a:srgbClr val="0A1628"/>
          </a:solidFill>
          <a:ln w="508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84048" y="17190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71907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Documentation — Hooks, Router, lazy loading, and component architecture.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093976"/>
            <a:ext cx="8503920" cy="384048"/>
          </a:xfrm>
          <a:prstGeom prst="rect">
            <a:avLst/>
          </a:prstGeom>
          <a:solidFill>
            <a:srgbClr val="0A1628"/>
          </a:solidFill>
          <a:ln w="508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84048" y="215798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15798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Documentation — Runtime, modules, asynchronous patterns.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532888"/>
            <a:ext cx="8503920" cy="384048"/>
          </a:xfrm>
          <a:prstGeom prst="rect">
            <a:avLst/>
          </a:prstGeom>
          <a:solidFill>
            <a:srgbClr val="0A1628"/>
          </a:solidFill>
          <a:ln w="508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4048" y="259689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59689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Documentation — Events, rooms, namespaces, authentication.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8503920" cy="384048"/>
          </a:xfrm>
          <a:prstGeom prst="rect">
            <a:avLst/>
          </a:prstGeom>
          <a:solidFill>
            <a:srgbClr val="0A1628"/>
          </a:solidFill>
          <a:ln w="508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30358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03580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Documentation — ODM schema, models, validation, and references.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410712"/>
            <a:ext cx="8503920" cy="384048"/>
          </a:xfrm>
          <a:prstGeom prst="rect">
            <a:avLst/>
          </a:prstGeom>
          <a:solidFill>
            <a:srgbClr val="0A1628"/>
          </a:solidFill>
          <a:ln w="508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84048" y="34747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4747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JavaScript, Web APIs, Fetch, and browser standards.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849624"/>
            <a:ext cx="8503920" cy="384048"/>
          </a:xfrm>
          <a:prstGeom prst="rect">
            <a:avLst/>
          </a:prstGeom>
          <a:solidFill>
            <a:srgbClr val="0A1628"/>
          </a:solidFill>
          <a:ln w="508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4048" y="39136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391363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Documentation — Build tooling, lazy loading, and SPA optimization.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288536"/>
            <a:ext cx="8503920" cy="384048"/>
          </a:xfrm>
          <a:prstGeom prst="rect">
            <a:avLst/>
          </a:prstGeom>
          <a:solidFill>
            <a:srgbClr val="0A1628"/>
          </a:solidFill>
          <a:ln w="508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84048" y="435254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43525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JWT.io — JSON Web Tokens: structure, signing, and verification.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727448"/>
            <a:ext cx="8503920" cy="384048"/>
          </a:xfrm>
          <a:prstGeom prst="rect">
            <a:avLst/>
          </a:prstGeom>
          <a:solidFill>
            <a:srgbClr val="0A1628"/>
          </a:solidFill>
          <a:ln w="508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84048" y="479145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479145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&amp; Web Technology lecture materials — MCA curriculum, Madurai Kamaraj University.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6400800" cy="6400800"/>
          </a:xfrm>
          <a:prstGeom prst="ellipse">
            <a:avLst/>
          </a:prstGeom>
          <a:solidFill>
            <a:srgbClr val="7B2FBE">
              <a:alpha val="15000"/>
            </a:srgbClr>
          </a:solidFill>
          <a:ln w="12700">
            <a:solidFill>
              <a:srgbClr val="7B2FB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0BFFF">
              <a:alpha val="12000"/>
            </a:srgbClr>
          </a:solidFill>
          <a:ln w="12700">
            <a:solidFill>
              <a:srgbClr val="00B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371600" y="2057400"/>
            <a:ext cx="64008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 with Auction System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Final Project Viva — April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3154680"/>
            <a:ext cx="5486400" cy="1691640"/>
          </a:xfrm>
          <a:prstGeom prst="rect">
            <a:avLst/>
          </a:prstGeom>
          <a:solidFill>
            <a:srgbClr val="0D1B2E"/>
          </a:solidFill>
          <a:ln w="1016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965960" y="331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8920" y="33101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 ABDULLA 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331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32120" y="33101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24SPCA043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38404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384048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P. MURUGESWARI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38404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32120" y="384048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VHNSN College, Virudhunagar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5834</Words>
  <Application>Microsoft Office PowerPoint</Application>
  <PresentationFormat>On-screen Show (16:9)</PresentationFormat>
  <Paragraphs>1187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 E-Commerce with Auction System</dc:title>
  <dc:subject>PptxGenJS Presentation</dc:subject>
  <dc:creator>SHEIK ABDULLA S</dc:creator>
  <cp:lastModifiedBy>SHEIK ABDULLA S</cp:lastModifiedBy>
  <cp:revision>4</cp:revision>
  <dcterms:created xsi:type="dcterms:W3CDTF">2026-04-12T16:21:39Z</dcterms:created>
  <dcterms:modified xsi:type="dcterms:W3CDTF">2026-04-13T04:18:55Z</dcterms:modified>
</cp:coreProperties>
</file>